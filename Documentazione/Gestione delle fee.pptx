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notesMasters/notesMaster1.xml" ContentType="application/vnd.openxmlformats-officedocument.presentationml.notesMaster+xml"/>
  <Override PartName="/ppt/presentation.xml" ContentType="application/vnd.openxmlformats-officedocument.presentationml.presentation.main+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806972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7595782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39450704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00471609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14197595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776653536"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1040738" name="Slide Image Placeholder 1"/>
          <p:cNvSpPr>
            <a:spLocks noChangeAspect="1" noGrp="1" noRot="1"/>
          </p:cNvSpPr>
          <p:nvPr>
            <p:ph type="sldImg"/>
          </p:nvPr>
        </p:nvSpPr>
        <p:spPr bwMode="auto"/>
      </p:sp>
      <p:sp>
        <p:nvSpPr>
          <p:cNvPr id="1295000311" name="Notes Placeholder 2"/>
          <p:cNvSpPr>
            <a:spLocks noGrp="1"/>
          </p:cNvSpPr>
          <p:nvPr>
            <p:ph type="body" idx="1"/>
          </p:nvPr>
        </p:nvSpPr>
        <p:spPr bwMode="auto"/>
        <p:txBody>
          <a:bodyPr/>
          <a:lstStyle/>
          <a:p>
            <a:pPr>
              <a:defRPr/>
            </a:pPr>
            <a:endParaRPr lang="en-US"/>
          </a:p>
        </p:txBody>
      </p:sp>
      <p:sp>
        <p:nvSpPr>
          <p:cNvPr id="157904104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7555206" name="Slide Image Placeholder 1"/>
          <p:cNvSpPr>
            <a:spLocks noChangeAspect="1" noGrp="1" noRot="1"/>
          </p:cNvSpPr>
          <p:nvPr>
            <p:ph type="sldImg"/>
          </p:nvPr>
        </p:nvSpPr>
        <p:spPr bwMode="auto"/>
      </p:sp>
      <p:sp>
        <p:nvSpPr>
          <p:cNvPr id="778617776" name="Notes Placeholder 2"/>
          <p:cNvSpPr>
            <a:spLocks noGrp="1"/>
          </p:cNvSpPr>
          <p:nvPr>
            <p:ph type="body" idx="1"/>
          </p:nvPr>
        </p:nvSpPr>
        <p:spPr bwMode="auto"/>
        <p:txBody>
          <a:bodyPr/>
          <a:lstStyle/>
          <a:p>
            <a:pPr>
              <a:defRPr/>
            </a:pPr>
            <a:endParaRPr lang="en-US"/>
          </a:p>
        </p:txBody>
      </p:sp>
      <p:sp>
        <p:nvSpPr>
          <p:cNvPr id="1696379121"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5459541" name="Slide Image Placeholder 1"/>
          <p:cNvSpPr>
            <a:spLocks noChangeAspect="1" noGrp="1" noRot="1"/>
          </p:cNvSpPr>
          <p:nvPr>
            <p:ph type="sldImg"/>
          </p:nvPr>
        </p:nvSpPr>
        <p:spPr bwMode="auto"/>
      </p:sp>
      <p:sp>
        <p:nvSpPr>
          <p:cNvPr id="1486323443" name="Notes Placeholder 2"/>
          <p:cNvSpPr>
            <a:spLocks noGrp="1"/>
          </p:cNvSpPr>
          <p:nvPr>
            <p:ph type="body" idx="1"/>
          </p:nvPr>
        </p:nvSpPr>
        <p:spPr bwMode="auto"/>
        <p:txBody>
          <a:bodyPr/>
          <a:lstStyle/>
          <a:p>
            <a:pPr>
              <a:defRPr/>
            </a:pPr>
            <a:endParaRPr lang="en-US"/>
          </a:p>
        </p:txBody>
      </p:sp>
      <p:sp>
        <p:nvSpPr>
          <p:cNvPr id="1408749275"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3598643" name="Slide Image Placeholder 1"/>
          <p:cNvSpPr>
            <a:spLocks noChangeAspect="1" noGrp="1" noRot="1"/>
          </p:cNvSpPr>
          <p:nvPr>
            <p:ph type="sldImg"/>
          </p:nvPr>
        </p:nvSpPr>
        <p:spPr bwMode="auto"/>
      </p:sp>
      <p:sp>
        <p:nvSpPr>
          <p:cNvPr id="365097282" name="Notes Placeholder 2"/>
          <p:cNvSpPr>
            <a:spLocks noGrp="1"/>
          </p:cNvSpPr>
          <p:nvPr>
            <p:ph type="body" idx="1"/>
          </p:nvPr>
        </p:nvSpPr>
        <p:spPr bwMode="auto"/>
        <p:txBody>
          <a:bodyPr/>
          <a:lstStyle/>
          <a:p>
            <a:pPr>
              <a:defRPr/>
            </a:pPr>
            <a:endParaRPr lang="en-US"/>
          </a:p>
        </p:txBody>
      </p:sp>
      <p:sp>
        <p:nvSpPr>
          <p:cNvPr id="10893787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3222523" name="Slide Image Placeholder 1"/>
          <p:cNvSpPr>
            <a:spLocks noChangeAspect="1" noGrp="1" noRot="1"/>
          </p:cNvSpPr>
          <p:nvPr>
            <p:ph type="sldImg"/>
          </p:nvPr>
        </p:nvSpPr>
        <p:spPr bwMode="auto"/>
      </p:sp>
      <p:sp>
        <p:nvSpPr>
          <p:cNvPr id="1502878955" name="Notes Placeholder 2"/>
          <p:cNvSpPr>
            <a:spLocks noGrp="1"/>
          </p:cNvSpPr>
          <p:nvPr>
            <p:ph type="body" idx="1"/>
          </p:nvPr>
        </p:nvSpPr>
        <p:spPr bwMode="auto"/>
        <p:txBody>
          <a:bodyPr/>
          <a:lstStyle/>
          <a:p>
            <a:pPr>
              <a:defRPr/>
            </a:pPr>
            <a:endParaRPr lang="en-US"/>
          </a:p>
        </p:txBody>
      </p:sp>
      <p:sp>
        <p:nvSpPr>
          <p:cNvPr id="978960011" name="Slide Number Placeholder 3"/>
          <p:cNvSpPr>
            <a:spLocks noGrp="1"/>
          </p:cNvSpPr>
          <p:nvPr>
            <p:ph type="sldNum" sz="quarter" idx="10"/>
          </p:nvPr>
        </p:nvSpPr>
        <p:spPr bwMode="auto"/>
        <p:txBody>
          <a:bodyPr/>
          <a:lstStyle/>
          <a:p>
            <a:pPr>
              <a:defRPr/>
            </a:pPr>
            <a:fld id="{BF918148-E56D-8307-7070-6B419C3F62D2}" type="slidenum">
              <a:rPr lang="en-US"/>
              <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6476820" name="Slide Image Placeholder 1"/>
          <p:cNvSpPr>
            <a:spLocks noChangeAspect="1" noGrp="1" noRot="1"/>
          </p:cNvSpPr>
          <p:nvPr>
            <p:ph type="sldImg"/>
          </p:nvPr>
        </p:nvSpPr>
        <p:spPr bwMode="auto"/>
      </p:sp>
      <p:sp>
        <p:nvSpPr>
          <p:cNvPr id="136648127" name="Notes Placeholder 2"/>
          <p:cNvSpPr>
            <a:spLocks noGrp="1"/>
          </p:cNvSpPr>
          <p:nvPr>
            <p:ph type="body" idx="1"/>
          </p:nvPr>
        </p:nvSpPr>
        <p:spPr bwMode="auto"/>
        <p:txBody>
          <a:bodyPr/>
          <a:lstStyle/>
          <a:p>
            <a:pPr>
              <a:defRPr/>
            </a:pPr>
            <a:endParaRPr lang="en-US"/>
          </a:p>
        </p:txBody>
      </p:sp>
      <p:sp>
        <p:nvSpPr>
          <p:cNvPr id="1084450201" name="Slide Number Placeholder 3"/>
          <p:cNvSpPr>
            <a:spLocks noGrp="1"/>
          </p:cNvSpPr>
          <p:nvPr>
            <p:ph type="sldNum" sz="quarter" idx="10"/>
          </p:nvPr>
        </p:nvSpPr>
        <p:spPr bwMode="auto"/>
        <p:txBody>
          <a:bodyPr/>
          <a:lstStyle/>
          <a:p>
            <a:pPr>
              <a:defRPr/>
            </a:pPr>
            <a:fld id="{204CC398-4B83-9263-AD84-3007D57E01CD}" type="slidenum">
              <a:rPr lang="en-US"/>
              <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4879135" name="Slide Image Placeholder 1"/>
          <p:cNvSpPr>
            <a:spLocks noChangeAspect="1" noGrp="1" noRot="1"/>
          </p:cNvSpPr>
          <p:nvPr>
            <p:ph type="sldImg"/>
          </p:nvPr>
        </p:nvSpPr>
        <p:spPr bwMode="auto"/>
      </p:sp>
      <p:sp>
        <p:nvSpPr>
          <p:cNvPr id="1733819898" name="Notes Placeholder 2"/>
          <p:cNvSpPr>
            <a:spLocks noGrp="1"/>
          </p:cNvSpPr>
          <p:nvPr>
            <p:ph type="body" idx="1"/>
          </p:nvPr>
        </p:nvSpPr>
        <p:spPr bwMode="auto"/>
        <p:txBody>
          <a:bodyPr/>
          <a:lstStyle/>
          <a:p>
            <a:pPr>
              <a:defRPr/>
            </a:pPr>
            <a:endParaRPr lang="en-US"/>
          </a:p>
        </p:txBody>
      </p:sp>
      <p:sp>
        <p:nvSpPr>
          <p:cNvPr id="1738023333" name="Slide Number Placeholder 3"/>
          <p:cNvSpPr>
            <a:spLocks noGrp="1"/>
          </p:cNvSpPr>
          <p:nvPr>
            <p:ph type="sldNum" sz="quarter" idx="10"/>
          </p:nvPr>
        </p:nvSpPr>
        <p:spPr bwMode="auto"/>
        <p:txBody>
          <a:bodyPr/>
          <a:lstStyle/>
          <a:p>
            <a:pPr>
              <a:defRPr/>
            </a:pPr>
            <a:fld id="{33547A29-0020-9080-3EAE-C6A738031A26}" type="slidenum">
              <a:rPr lang="en-US"/>
              <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8546354" name="Slide Image Placeholder 1"/>
          <p:cNvSpPr>
            <a:spLocks noChangeAspect="1" noGrp="1" noRot="1"/>
          </p:cNvSpPr>
          <p:nvPr>
            <p:ph type="sldImg"/>
          </p:nvPr>
        </p:nvSpPr>
        <p:spPr bwMode="auto"/>
      </p:sp>
      <p:sp>
        <p:nvSpPr>
          <p:cNvPr id="346710765" name="Notes Placeholder 2"/>
          <p:cNvSpPr>
            <a:spLocks noGrp="1"/>
          </p:cNvSpPr>
          <p:nvPr>
            <p:ph type="body" idx="1"/>
          </p:nvPr>
        </p:nvSpPr>
        <p:spPr bwMode="auto"/>
        <p:txBody>
          <a:bodyPr/>
          <a:lstStyle/>
          <a:p>
            <a:pPr>
              <a:defRPr/>
            </a:pPr>
            <a:endParaRPr lang="en-US"/>
          </a:p>
        </p:txBody>
      </p:sp>
      <p:sp>
        <p:nvSpPr>
          <p:cNvPr id="543475726" name="Slide Number Placeholder 3"/>
          <p:cNvSpPr>
            <a:spLocks noGrp="1"/>
          </p:cNvSpPr>
          <p:nvPr>
            <p:ph type="sldNum" sz="quarter" idx="10"/>
          </p:nvPr>
        </p:nvSpPr>
        <p:spPr bwMode="auto"/>
        <p:txBody>
          <a:bodyPr/>
          <a:lstStyle/>
          <a:p>
            <a:pPr>
              <a:defRPr/>
            </a:pPr>
            <a:fld id="{D61059C9-B68D-6DB6-B7FE-CB08C2E82FF0}" type="slidenum">
              <a:rPr lang="en-US"/>
              <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1425526" name="Slide Image Placeholder 1"/>
          <p:cNvSpPr>
            <a:spLocks noChangeAspect="1" noGrp="1" noRot="1"/>
          </p:cNvSpPr>
          <p:nvPr>
            <p:ph type="sldImg"/>
          </p:nvPr>
        </p:nvSpPr>
        <p:spPr bwMode="auto"/>
      </p:sp>
      <p:sp>
        <p:nvSpPr>
          <p:cNvPr id="386236229" name="Notes Placeholder 2"/>
          <p:cNvSpPr>
            <a:spLocks noGrp="1"/>
          </p:cNvSpPr>
          <p:nvPr>
            <p:ph type="body" idx="1"/>
          </p:nvPr>
        </p:nvSpPr>
        <p:spPr bwMode="auto"/>
        <p:txBody>
          <a:bodyPr/>
          <a:lstStyle/>
          <a:p>
            <a:pPr>
              <a:defRPr/>
            </a:pPr>
            <a:endParaRPr lang="en-US"/>
          </a:p>
        </p:txBody>
      </p:sp>
      <p:sp>
        <p:nvSpPr>
          <p:cNvPr id="1100602339" name="Slide Number Placeholder 3"/>
          <p:cNvSpPr>
            <a:spLocks noGrp="1"/>
          </p:cNvSpPr>
          <p:nvPr>
            <p:ph type="sldNum" sz="quarter" idx="10"/>
          </p:nvPr>
        </p:nvSpPr>
        <p:spPr bwMode="auto"/>
        <p:txBody>
          <a:bodyPr/>
          <a:lstStyle/>
          <a:p>
            <a:pPr>
              <a:defRPr/>
            </a:pPr>
            <a:fld id="{886C9EB6-A771-0A25-437C-7FB74D2ACB79}" type="slidenum">
              <a:rPr lang="en-US"/>
              <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688075" name="Slide Image Placeholder 1"/>
          <p:cNvSpPr>
            <a:spLocks noChangeAspect="1" noGrp="1" noRot="1"/>
          </p:cNvSpPr>
          <p:nvPr>
            <p:ph type="sldImg"/>
          </p:nvPr>
        </p:nvSpPr>
        <p:spPr bwMode="auto"/>
      </p:sp>
      <p:sp>
        <p:nvSpPr>
          <p:cNvPr id="1899585944" name="Notes Placeholder 2"/>
          <p:cNvSpPr>
            <a:spLocks noGrp="1"/>
          </p:cNvSpPr>
          <p:nvPr>
            <p:ph type="body" idx="1"/>
          </p:nvPr>
        </p:nvSpPr>
        <p:spPr bwMode="auto"/>
        <p:txBody>
          <a:bodyPr/>
          <a:lstStyle/>
          <a:p>
            <a:pPr>
              <a:defRPr/>
            </a:pPr>
            <a:endParaRPr lang="en-US"/>
          </a:p>
        </p:txBody>
      </p:sp>
      <p:sp>
        <p:nvSpPr>
          <p:cNvPr id="22842307"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9794594" name="Slide Image Placeholder 1"/>
          <p:cNvSpPr>
            <a:spLocks noChangeAspect="1" noGrp="1" noRot="1"/>
          </p:cNvSpPr>
          <p:nvPr>
            <p:ph type="sldImg"/>
          </p:nvPr>
        </p:nvSpPr>
        <p:spPr bwMode="auto"/>
      </p:sp>
      <p:sp>
        <p:nvSpPr>
          <p:cNvPr id="1596927440" name="Notes Placeholder 2"/>
          <p:cNvSpPr>
            <a:spLocks noGrp="1"/>
          </p:cNvSpPr>
          <p:nvPr>
            <p:ph type="body" idx="1"/>
          </p:nvPr>
        </p:nvSpPr>
        <p:spPr bwMode="auto"/>
        <p:txBody>
          <a:bodyPr/>
          <a:lstStyle/>
          <a:p>
            <a:pPr>
              <a:defRPr/>
            </a:pPr>
            <a:endParaRPr lang="en-US"/>
          </a:p>
        </p:txBody>
      </p:sp>
      <p:sp>
        <p:nvSpPr>
          <p:cNvPr id="811162515" name="Slide Number Placeholder 3"/>
          <p:cNvSpPr>
            <a:spLocks noGrp="1"/>
          </p:cNvSpPr>
          <p:nvPr>
            <p:ph type="sldNum" sz="quarter" idx="10"/>
          </p:nvPr>
        </p:nvSpPr>
        <p:spPr bwMode="auto"/>
        <p:txBody>
          <a:bodyPr/>
          <a:lstStyle/>
          <a:p>
            <a:pPr>
              <a:defRPr/>
            </a:pPr>
            <a:fld id="{E97AD6D8-0702-6E2E-3D0D-ECA46E8308EB}" type="slidenum">
              <a:rPr lang="en-US"/>
              <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7347746" name="Slide Image Placeholder 1"/>
          <p:cNvSpPr>
            <a:spLocks noChangeAspect="1" noGrp="1" noRot="1"/>
          </p:cNvSpPr>
          <p:nvPr>
            <p:ph type="sldImg"/>
          </p:nvPr>
        </p:nvSpPr>
        <p:spPr bwMode="auto"/>
      </p:sp>
      <p:sp>
        <p:nvSpPr>
          <p:cNvPr id="5486260" name="Notes Placeholder 2"/>
          <p:cNvSpPr>
            <a:spLocks noGrp="1"/>
          </p:cNvSpPr>
          <p:nvPr>
            <p:ph type="body" idx="1"/>
          </p:nvPr>
        </p:nvSpPr>
        <p:spPr bwMode="auto"/>
        <p:txBody>
          <a:bodyPr/>
          <a:lstStyle/>
          <a:p>
            <a:pPr>
              <a:defRPr/>
            </a:pPr>
            <a:endParaRPr lang="en-US"/>
          </a:p>
        </p:txBody>
      </p:sp>
      <p:sp>
        <p:nvSpPr>
          <p:cNvPr id="939496748" name="Slide Number Placeholder 3"/>
          <p:cNvSpPr>
            <a:spLocks noGrp="1"/>
          </p:cNvSpPr>
          <p:nvPr>
            <p:ph type="sldNum" sz="quarter" idx="10"/>
          </p:nvPr>
        </p:nvSpPr>
        <p:spPr bwMode="auto"/>
        <p:txBody>
          <a:bodyPr/>
          <a:lstStyle/>
          <a:p>
            <a:pPr>
              <a:defRPr/>
            </a:pPr>
            <a:fld id="{D5ADB7AF-FBF8-35F1-B6FE-A7199862DED3}" type="slidenum">
              <a:rPr lang="en-US"/>
              <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9628583" name="Slide Image Placeholder 1"/>
          <p:cNvSpPr>
            <a:spLocks noChangeAspect="1" noGrp="1" noRot="1"/>
          </p:cNvSpPr>
          <p:nvPr>
            <p:ph type="sldImg"/>
          </p:nvPr>
        </p:nvSpPr>
        <p:spPr bwMode="auto"/>
      </p:sp>
      <p:sp>
        <p:nvSpPr>
          <p:cNvPr id="1142757865" name="Notes Placeholder 2"/>
          <p:cNvSpPr>
            <a:spLocks noGrp="1"/>
          </p:cNvSpPr>
          <p:nvPr>
            <p:ph type="body" idx="1"/>
          </p:nvPr>
        </p:nvSpPr>
        <p:spPr bwMode="auto"/>
        <p:txBody>
          <a:bodyPr/>
          <a:lstStyle/>
          <a:p>
            <a:pPr>
              <a:defRPr/>
            </a:pPr>
            <a:endParaRPr lang="en-US"/>
          </a:p>
        </p:txBody>
      </p:sp>
      <p:sp>
        <p:nvSpPr>
          <p:cNvPr id="1353537421" name="Slide Number Placeholder 3"/>
          <p:cNvSpPr>
            <a:spLocks noGrp="1"/>
          </p:cNvSpPr>
          <p:nvPr>
            <p:ph type="sldNum" sz="quarter" idx="10"/>
          </p:nvPr>
        </p:nvSpPr>
        <p:spPr bwMode="auto"/>
        <p:txBody>
          <a:bodyPr/>
          <a:lstStyle/>
          <a:p>
            <a:pPr>
              <a:defRPr/>
            </a:pPr>
            <a:fld id="{F0734F4C-EE8A-A610-A33B-AFDE398B099E}" type="slidenum">
              <a:rPr lang="en-US"/>
              <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0549493" name="Slide Image Placeholder 1"/>
          <p:cNvSpPr>
            <a:spLocks noChangeAspect="1" noGrp="1" noRot="1"/>
          </p:cNvSpPr>
          <p:nvPr>
            <p:ph type="sldImg"/>
          </p:nvPr>
        </p:nvSpPr>
        <p:spPr bwMode="auto"/>
      </p:sp>
      <p:sp>
        <p:nvSpPr>
          <p:cNvPr id="181589124" name="Notes Placeholder 2"/>
          <p:cNvSpPr>
            <a:spLocks noGrp="1"/>
          </p:cNvSpPr>
          <p:nvPr>
            <p:ph type="body" idx="1"/>
          </p:nvPr>
        </p:nvSpPr>
        <p:spPr bwMode="auto"/>
        <p:txBody>
          <a:bodyPr/>
          <a:lstStyle/>
          <a:p>
            <a:pPr>
              <a:defRPr/>
            </a:pPr>
            <a:endParaRPr lang="en-US"/>
          </a:p>
        </p:txBody>
      </p:sp>
      <p:sp>
        <p:nvSpPr>
          <p:cNvPr id="1766910588" name="Slide Number Placeholder 3"/>
          <p:cNvSpPr>
            <a:spLocks noGrp="1"/>
          </p:cNvSpPr>
          <p:nvPr>
            <p:ph type="sldNum" sz="quarter" idx="10"/>
          </p:nvPr>
        </p:nvSpPr>
        <p:spPr bwMode="auto"/>
        <p:txBody>
          <a:bodyPr/>
          <a:lstStyle/>
          <a:p>
            <a:pPr>
              <a:defRPr/>
            </a:pPr>
            <a:fld id="{D7C529C7-236D-AE1E-D4D9-310E7B332AF8}" type="slidenum">
              <a:rPr lang="en-US"/>
              <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20617"/>
        </a:solidFill>
      </p:bgPr>
    </p:bg>
    <p:spTree>
      <p:nvGrpSpPr>
        <p:cNvPr id="1" name=""/>
        <p:cNvGrpSpPr/>
        <p:nvPr/>
      </p:nvGrpSpPr>
      <p:grpSpPr bwMode="auto">
        <a:xfrm>
          <a:off x="0" y="0"/>
          <a:ext cx="0" cy="0"/>
          <a:chOff x="0" y="0"/>
          <a:chExt cx="0" cy="0"/>
        </a:xfrm>
      </p:grpSpPr>
      <p:sp>
        <p:nvSpPr>
          <p:cNvPr id="1001962249" name="Text 0"/>
          <p:cNvSpPr/>
          <p:nvPr/>
        </p:nvSpPr>
        <p:spPr bwMode="auto">
          <a:xfrm>
            <a:off x="1786485" y="1746945"/>
            <a:ext cx="5570928" cy="685800"/>
          </a:xfrm>
          <a:prstGeom prst="rect">
            <a:avLst/>
          </a:prstGeom>
          <a:noFill/>
          <a:ln/>
        </p:spPr>
        <p:txBody>
          <a:bodyPr wrap="square" lIns="0" tIns="0" rIns="0" bIns="0" rtlCol="0" anchor="t"/>
          <a:lstStyle/>
          <a:p>
            <a:pPr marL="0" indent="0" algn="ctr">
              <a:lnSpc>
                <a:spcPts val="5400"/>
              </a:lnSpc>
              <a:buNone/>
              <a:defRPr/>
            </a:pPr>
            <a:r>
              <a:rPr lang="en-US" sz="4500" b="1">
                <a:solidFill>
                  <a:srgbClr val="38BDF8"/>
                </a:solidFill>
                <a:latin typeface="Arial"/>
                <a:ea typeface="Arial"/>
                <a:cs typeface="Arial"/>
              </a:rPr>
              <a:t>GIACENZE CRYPTO</a:t>
            </a:r>
            <a:endParaRPr lang="en-US" sz="4500"/>
          </a:p>
        </p:txBody>
      </p:sp>
      <p:sp>
        <p:nvSpPr>
          <p:cNvPr id="1320302857" name="Text 1"/>
          <p:cNvSpPr/>
          <p:nvPr/>
        </p:nvSpPr>
        <p:spPr bwMode="auto">
          <a:xfrm>
            <a:off x="2997179" y="2585145"/>
            <a:ext cx="3149543" cy="319980"/>
          </a:xfrm>
          <a:prstGeom prst="rect">
            <a:avLst/>
          </a:prstGeom>
          <a:noFill/>
          <a:ln/>
        </p:spPr>
        <p:txBody>
          <a:bodyPr wrap="square" lIns="0" tIns="0" rIns="0" bIns="0" rtlCol="0" anchor="t"/>
          <a:lstStyle/>
          <a:p>
            <a:pPr marL="0" indent="0" algn="ctr">
              <a:lnSpc>
                <a:spcPts val="2520"/>
              </a:lnSpc>
              <a:buNone/>
              <a:defRPr/>
            </a:pPr>
            <a:r>
              <a:rPr lang="en-US" sz="1800">
                <a:solidFill>
                  <a:srgbClr val="CBD5E1"/>
                </a:solidFill>
                <a:latin typeface="Arial"/>
                <a:ea typeface="Arial"/>
                <a:cs typeface="Arial"/>
              </a:rPr>
              <a:t>Gestione delle fee</a:t>
            </a:r>
            <a:endParaRPr lang="en-US" sz="1800"/>
          </a:p>
        </p:txBody>
      </p:sp>
      <p:sp>
        <p:nvSpPr>
          <p:cNvPr id="1493516000" name="Text 2"/>
          <p:cNvSpPr/>
          <p:nvPr/>
        </p:nvSpPr>
        <p:spPr bwMode="auto">
          <a:xfrm>
            <a:off x="3120343" y="3209925"/>
            <a:ext cx="2903315" cy="186630"/>
          </a:xfrm>
          <a:prstGeom prst="rect">
            <a:avLst/>
          </a:prstGeom>
          <a:noFill/>
          <a:ln/>
        </p:spPr>
        <p:txBody>
          <a:bodyPr wrap="square" lIns="0" tIns="0" rIns="0" bIns="0" rtlCol="0" anchor="t"/>
          <a:lstStyle/>
          <a:p>
            <a:pPr marL="0" indent="0" algn="ctr">
              <a:lnSpc>
                <a:spcPts val="1470"/>
              </a:lnSpc>
              <a:buNone/>
              <a:defRPr/>
            </a:pPr>
            <a:r>
              <a:rPr lang="en-US" sz="1050">
                <a:solidFill>
                  <a:srgbClr val="94A3B8"/>
                </a:solidFill>
                <a:latin typeface="Arial"/>
                <a:ea typeface="Arial"/>
                <a:cs typeface="Arial"/>
              </a:rPr>
              <a:t>Guida alla tassazione delle cripto-attività in Italia</a:t>
            </a:r>
            <a:endParaRPr lang="en-US" sz="10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0F172A"/>
        </a:solidFill>
      </p:bgPr>
    </p:bg>
    <p:spTree>
      <p:nvGrpSpPr>
        <p:cNvPr id="1" name=""/>
        <p:cNvGrpSpPr/>
        <p:nvPr/>
      </p:nvGrpSpPr>
      <p:grpSpPr bwMode="auto">
        <a:xfrm>
          <a:off x="0" y="0"/>
          <a:ext cx="0" cy="0"/>
          <a:chOff x="0" y="0"/>
          <a:chExt cx="0" cy="0"/>
        </a:xfrm>
      </p:grpSpPr>
      <p:sp>
        <p:nvSpPr>
          <p:cNvPr id="2013466667" name="Text 0"/>
          <p:cNvSpPr/>
          <p:nvPr/>
        </p:nvSpPr>
        <p:spPr bwMode="auto">
          <a:xfrm>
            <a:off x="312768" y="38162"/>
            <a:ext cx="8083296" cy="411460"/>
          </a:xfrm>
          <a:prstGeom prst="rect">
            <a:avLst/>
          </a:prstGeom>
          <a:noFill/>
          <a:ln/>
        </p:spPr>
        <p:txBody>
          <a:bodyPr wrap="square" lIns="0" tIns="0" rIns="0" bIns="0" rtlCol="0" anchor="t"/>
          <a:lstStyle/>
          <a:p>
            <a:pPr marL="0" indent="0">
              <a:lnSpc>
                <a:spcPts val="3240"/>
              </a:lnSpc>
              <a:buNone/>
              <a:defRPr/>
            </a:pPr>
            <a:r>
              <a:rPr lang="en-US" sz="2700" b="1">
                <a:solidFill>
                  <a:srgbClr val="38BDF8"/>
                </a:solidFill>
                <a:latin typeface="Arial"/>
                <a:ea typeface="Arial"/>
                <a:cs typeface="Arial"/>
              </a:rPr>
              <a:t>Normativa Azioni</a:t>
            </a:r>
            <a:endParaRPr lang="en-US" sz="2700"/>
          </a:p>
        </p:txBody>
      </p:sp>
      <p:sp>
        <p:nvSpPr>
          <p:cNvPr id="792523162" name="Text 1"/>
          <p:cNvSpPr/>
          <p:nvPr/>
        </p:nvSpPr>
        <p:spPr bwMode="auto">
          <a:xfrm flipH="0" flipV="0">
            <a:off x="299154" y="506679"/>
            <a:ext cx="7619998" cy="1130821"/>
          </a:xfrm>
          <a:prstGeom prst="rect">
            <a:avLst/>
          </a:prstGeom>
          <a:noFill/>
          <a:ln/>
        </p:spPr>
        <p:txBody>
          <a:bodyPr wrap="square" lIns="0" tIns="0" rIns="0" bIns="0" rtlCol="0" anchor="t"/>
          <a:lstStyle/>
          <a:p>
            <a:pPr marL="342900" indent="-342900">
              <a:lnSpc>
                <a:spcPct val="150000"/>
              </a:lnSpc>
              <a:buSzPct val="100000"/>
              <a:buChar char="•"/>
              <a:defRPr/>
            </a:pPr>
            <a:r>
              <a:rPr sz="1100" b="0" i="1" u="none">
                <a:solidFill>
                  <a:schemeClr val="bg1"/>
                </a:solidFill>
                <a:latin typeface="Arial"/>
                <a:ea typeface="Arial"/>
                <a:cs typeface="Arial"/>
              </a:rPr>
              <a:t>Le plusvalenze indicate nelle lettere c), c-bis) e c-ter) del comma 1 dell'articolo 67 sono costituite dalla differenza tra il corrispettivo percepito ovvero la somma od il valore normale dei beni rimborsati ed il costo od il valore di acquisto assoggettato a tassazione,</a:t>
            </a:r>
            <a:r>
              <a:rPr sz="1100" b="0" i="1" u="none">
                <a:solidFill>
                  <a:schemeClr val="bg1"/>
                </a:solidFill>
                <a:latin typeface="Arial"/>
                <a:ea typeface="Arial"/>
                <a:cs typeface="Arial"/>
              </a:rPr>
              <a:t> </a:t>
            </a:r>
            <a:r>
              <a:rPr sz="1100" b="1" i="1" u="none">
                <a:solidFill>
                  <a:schemeClr val="bg1"/>
                </a:solidFill>
                <a:latin typeface="Arial"/>
                <a:ea typeface="Arial"/>
                <a:cs typeface="Arial"/>
              </a:rPr>
              <a:t>aumentato di ogni onere inerente alla loro produzione</a:t>
            </a:r>
            <a:r>
              <a:rPr sz="1100" b="0" i="1" u="none">
                <a:solidFill>
                  <a:schemeClr val="bg1"/>
                </a:solidFill>
                <a:latin typeface="Arial"/>
                <a:ea typeface="Arial"/>
                <a:cs typeface="Arial"/>
              </a:rPr>
              <a:t> </a:t>
            </a:r>
            <a:r>
              <a:rPr sz="1100" b="0" i="1" u="none">
                <a:solidFill>
                  <a:schemeClr val="bg1"/>
                </a:solidFill>
                <a:latin typeface="Arial"/>
                <a:ea typeface="Arial"/>
                <a:cs typeface="Arial"/>
              </a:rPr>
              <a:t>(</a:t>
            </a:r>
            <a:r>
              <a:rPr sz="1100" b="1" i="1" u="none">
                <a:solidFill>
                  <a:schemeClr val="bg1"/>
                </a:solidFill>
                <a:latin typeface="Arial"/>
                <a:ea typeface="Arial"/>
                <a:cs typeface="Arial"/>
              </a:rPr>
              <a:t>Art.68, c.6 del TUIR</a:t>
            </a:r>
            <a:r>
              <a:rPr sz="1100" b="0" i="1" u="none">
                <a:solidFill>
                  <a:schemeClr val="bg1"/>
                </a:solidFill>
                <a:latin typeface="Arial"/>
                <a:ea typeface="Arial"/>
                <a:cs typeface="Arial"/>
              </a:rPr>
              <a:t>)</a:t>
            </a:r>
            <a:endParaRPr sz="1100">
              <a:solidFill>
                <a:srgbClr val="CBD5E1"/>
              </a:solidFill>
              <a:latin typeface="Arial"/>
              <a:ea typeface="Arial"/>
              <a:cs typeface="Arial"/>
            </a:endParaRPr>
          </a:p>
          <a:p>
            <a:pPr marL="342900" indent="-342900">
              <a:lnSpc>
                <a:spcPts val="2429"/>
              </a:lnSpc>
              <a:buSzPct val="100000"/>
              <a:buChar char="•"/>
              <a:defRPr/>
            </a:pPr>
            <a:r>
              <a:rPr lang="en-US" sz="1600">
                <a:solidFill>
                  <a:schemeClr val="accent4">
                    <a:lumMod val="40000"/>
                    <a:lumOff val="60000"/>
                  </a:schemeClr>
                </a:solidFill>
                <a:latin typeface="Arial"/>
                <a:ea typeface="Arial"/>
                <a:cs typeface="Arial"/>
              </a:rPr>
              <a:t>Plusvalenza = Prz Vendita - Fee - Costo di carico</a:t>
            </a:r>
            <a:endParaRPr lang="en-US" sz="1350">
              <a:solidFill>
                <a:srgbClr val="CBD5E1"/>
              </a:solidFill>
              <a:latin typeface="Arial"/>
              <a:ea typeface="Arial"/>
              <a:cs typeface="Arial"/>
            </a:endParaRPr>
          </a:p>
        </p:txBody>
      </p:sp>
      <p:sp>
        <p:nvSpPr>
          <p:cNvPr id="2001756382" name="Text 0"/>
          <p:cNvSpPr/>
          <p:nvPr/>
        </p:nvSpPr>
        <p:spPr bwMode="auto">
          <a:xfrm flipH="0" flipV="0">
            <a:off x="312768" y="1637501"/>
            <a:ext cx="8096910"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Normativa Crypto</a:t>
            </a:r>
            <a:endParaRPr lang="en-US" sz="2700"/>
          </a:p>
        </p:txBody>
      </p:sp>
      <p:sp>
        <p:nvSpPr>
          <p:cNvPr id="1762596259" name="Text 1"/>
          <p:cNvSpPr/>
          <p:nvPr/>
        </p:nvSpPr>
        <p:spPr bwMode="auto">
          <a:xfrm flipH="0" flipV="0">
            <a:off x="177111" y="2161848"/>
            <a:ext cx="8854722" cy="2805261"/>
          </a:xfrm>
          <a:prstGeom prst="rect">
            <a:avLst/>
          </a:prstGeom>
          <a:noFill/>
          <a:ln/>
        </p:spPr>
        <p:txBody>
          <a:bodyPr wrap="square" lIns="0" tIns="0" rIns="0" bIns="0" rtlCol="0" anchor="t"/>
          <a:lstStyle/>
          <a:p>
            <a:pPr marL="206778" indent="-206778">
              <a:lnSpc>
                <a:spcPct val="150000"/>
              </a:lnSpc>
              <a:buFont typeface="Arial"/>
              <a:buChar char="•"/>
              <a:defRPr/>
            </a:pPr>
            <a:r>
              <a:rPr sz="1100" b="0" i="1" u="none">
                <a:solidFill>
                  <a:schemeClr val="bg2"/>
                </a:solidFill>
                <a:latin typeface="Arial"/>
                <a:ea typeface="Arial"/>
                <a:cs typeface="Arial"/>
              </a:rPr>
              <a:t>Le plusvalenze di cui alla lettera c-sexies) del comma 1 dell’articolo 67 sono costituite dalla differenza tra il corrispettivo percepito ovvero il valore normale delle cripto-attività permutate e il costo o il valore di acquisto.</a:t>
            </a:r>
            <a:r>
              <a:rPr sz="1100" b="0" i="1" u="none">
                <a:solidFill>
                  <a:schemeClr val="bg1"/>
                </a:solidFill>
                <a:latin typeface="Arial"/>
                <a:ea typeface="Arial"/>
                <a:cs typeface="Arial"/>
              </a:rPr>
              <a:t> </a:t>
            </a:r>
            <a:br>
              <a:rPr sz="1100" b="0" i="1" u="none">
                <a:solidFill>
                  <a:schemeClr val="bg1"/>
                </a:solidFill>
                <a:latin typeface="Arial"/>
                <a:ea typeface="Arial"/>
                <a:cs typeface="Arial"/>
              </a:rPr>
            </a:br>
            <a:r>
              <a:rPr lang="it-IT" sz="1100">
                <a:solidFill>
                  <a:schemeClr val="bg1"/>
                </a:solidFill>
                <a:latin typeface="Arial"/>
                <a:ea typeface="Arial"/>
                <a:cs typeface="Arial"/>
              </a:rPr>
              <a:t>Inoltre aggiungono: </a:t>
            </a:r>
            <a:r>
              <a:rPr sz="1100" b="0" i="1" u="none">
                <a:solidFill>
                  <a:schemeClr val="bg2"/>
                </a:solidFill>
                <a:latin typeface="Arial"/>
                <a:ea typeface="Arial"/>
                <a:cs typeface="Arial"/>
              </a:rPr>
              <a:t>I proventi derivanti dalla detenzione di cripto-attività percepiti  nel periodo di imposta sono assoggettati a tassazione senza alcuna  deduzione</a:t>
            </a:r>
            <a:r>
              <a:rPr lang="it-IT" sz="1100" b="0" i="1" u="none">
                <a:solidFill>
                  <a:schemeClr val="bg2"/>
                </a:solidFill>
                <a:latin typeface="Times New Roman"/>
                <a:ea typeface="Times New Roman"/>
                <a:cs typeface="Times New Roman"/>
              </a:rPr>
              <a:t>. </a:t>
            </a:r>
            <a:r>
              <a:rPr lang="en-US" sz="1100" b="0" i="1" u="none" strike="noStrike" cap="none" spc="0">
                <a:solidFill>
                  <a:schemeClr val="bg1"/>
                </a:solidFill>
                <a:latin typeface="Arial"/>
                <a:ea typeface="Arial"/>
                <a:cs typeface="Arial"/>
              </a:rPr>
              <a:t>(</a:t>
            </a:r>
            <a:r>
              <a:rPr lang="en-US" sz="1100" b="1" i="1" u="none" strike="noStrike" cap="none" spc="0">
                <a:solidFill>
                  <a:schemeClr val="bg1"/>
                </a:solidFill>
                <a:latin typeface="Arial"/>
                <a:ea typeface="Arial"/>
                <a:cs typeface="Arial"/>
              </a:rPr>
              <a:t>Art. 68, c.9-bis del TUIR</a:t>
            </a:r>
            <a:r>
              <a:rPr lang="en-US" sz="1100" b="0" i="1" u="none" strike="noStrike" cap="none" spc="0">
                <a:solidFill>
                  <a:schemeClr val="bg1"/>
                </a:solidFill>
                <a:latin typeface="Arial"/>
                <a:ea typeface="Arial"/>
                <a:cs typeface="Arial"/>
              </a:rPr>
              <a:t> –&gt; Introdotto con legge di bilancio 2023)</a:t>
            </a:r>
            <a:endParaRPr sz="1100" b="0" i="1" u="none">
              <a:solidFill>
                <a:schemeClr val="bg1"/>
              </a:solidFill>
              <a:latin typeface="Arial"/>
              <a:ea typeface="Arial"/>
              <a:cs typeface="Arial"/>
            </a:endParaRPr>
          </a:p>
          <a:p>
            <a:pPr>
              <a:lnSpc>
                <a:spcPct val="150000"/>
              </a:lnSpc>
              <a:defRPr/>
            </a:pPr>
            <a:endParaRPr sz="1100" b="0" i="1" u="none">
              <a:solidFill>
                <a:schemeClr val="bg1"/>
              </a:solidFill>
              <a:latin typeface="Arial"/>
              <a:ea typeface="Arial"/>
              <a:cs typeface="Arial"/>
            </a:endParaRPr>
          </a:p>
          <a:p>
            <a:pPr marL="206778" indent="-206778">
              <a:lnSpc>
                <a:spcPct val="150000"/>
              </a:lnSpc>
              <a:buFont typeface="Arial"/>
              <a:buChar char="•"/>
              <a:defRPr/>
            </a:pPr>
            <a:r>
              <a:rPr lang="en-US" sz="1100" b="0" i="1" u="none" strike="noStrike" cap="none" spc="0">
                <a:solidFill>
                  <a:schemeClr val="bg1"/>
                </a:solidFill>
                <a:latin typeface="Arial"/>
                <a:ea typeface="Arial"/>
                <a:cs typeface="Arial"/>
              </a:rPr>
              <a:t>Al riguardo, si evidenzia che, a differenza di quanto previsto per le attività finanziarie dal comma 6 dell’articolo 68 del Tuir, secondo cui il costo o valore di acquisto è aumentato di ogni altro costo inerente (bolli, commissioni, imposte, con esclusione degli oneri finanziari), il comma 9-bis non consente di tener conto nella determinazione dei redditi diversi derivanti dalle cripto-attività dei costi inerenti l’acquisto e la cessione.</a:t>
            </a:r>
            <a:r>
              <a:rPr lang="en-US" sz="1100" b="0" i="1" u="none" strike="noStrike" cap="none" spc="0">
                <a:solidFill>
                  <a:schemeClr val="bg1"/>
                </a:solidFill>
                <a:latin typeface="Arial"/>
                <a:ea typeface="Arial"/>
                <a:cs typeface="Arial"/>
              </a:rPr>
              <a:t> </a:t>
            </a:r>
            <a:r>
              <a:rPr lang="en-US" sz="1100" b="0" i="1" u="none" strike="noStrike" cap="none" spc="0">
                <a:solidFill>
                  <a:schemeClr val="bg1"/>
                </a:solidFill>
                <a:latin typeface="Arial"/>
                <a:ea typeface="Arial"/>
                <a:cs typeface="Arial"/>
              </a:rPr>
              <a:t>(</a:t>
            </a:r>
            <a:r>
              <a:rPr lang="en-US" sz="1100" b="1" i="1" u="none" strike="noStrike" cap="none" spc="0">
                <a:solidFill>
                  <a:schemeClr val="bg1"/>
                </a:solidFill>
                <a:latin typeface="Arial"/>
                <a:ea typeface="Arial"/>
                <a:cs typeface="Arial"/>
              </a:rPr>
              <a:t>Circolare 30/E Agenzia delle Entrate</a:t>
            </a:r>
            <a:r>
              <a:rPr lang="en-US" sz="1100" b="0" i="1" u="none" strike="noStrike" cap="none" spc="0">
                <a:solidFill>
                  <a:schemeClr val="bg1"/>
                </a:solidFill>
                <a:latin typeface="Arial"/>
                <a:ea typeface="Arial"/>
                <a:cs typeface="Arial"/>
              </a:rPr>
              <a:t> 27/10/23</a:t>
            </a:r>
            <a:r>
              <a:rPr lang="en-US" sz="1100" b="0" i="1" u="none" strike="noStrike" cap="none" spc="0">
                <a:solidFill>
                  <a:schemeClr val="bg1"/>
                </a:solidFill>
                <a:latin typeface="Arial"/>
                <a:ea typeface="Arial"/>
                <a:cs typeface="Arial"/>
              </a:rPr>
              <a:t>)</a:t>
            </a:r>
            <a:endParaRPr lang="en-US" sz="1200" b="0" i="1" u="none" strike="noStrike" cap="none" spc="0">
              <a:solidFill>
                <a:schemeClr val="bg1"/>
              </a:solidFill>
              <a:latin typeface="Arial"/>
              <a:ea typeface="Arial"/>
              <a:cs typeface="Arial"/>
            </a:endParaRPr>
          </a:p>
          <a:p>
            <a:pPr marL="342900" indent="-342900">
              <a:lnSpc>
                <a:spcPts val="2429"/>
              </a:lnSpc>
              <a:buSzPct val="100000"/>
              <a:buChar char="•"/>
              <a:defRPr/>
            </a:pPr>
            <a:r>
              <a:rPr lang="en-US" sz="1600">
                <a:solidFill>
                  <a:schemeClr val="accent4">
                    <a:lumMod val="40000"/>
                    <a:lumOff val="60000"/>
                  </a:schemeClr>
                </a:solidFill>
                <a:latin typeface="Arial"/>
                <a:ea typeface="Arial"/>
                <a:cs typeface="Arial"/>
              </a:rPr>
              <a:t>Plusvalenza = Prz Vendita - Costo di carico</a:t>
            </a:r>
            <a:endParaRPr lang="en-US" sz="1350">
              <a:solidFill>
                <a:srgbClr val="CBD5E1"/>
              </a:solidFill>
              <a:latin typeface="Arial"/>
              <a:ea typeface="Arial"/>
              <a:cs typeface="Arial"/>
            </a:endParaRPr>
          </a:p>
          <a:p>
            <a:pPr>
              <a:lnSpc>
                <a:spcPts val="2429"/>
              </a:lnSpc>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0F172A"/>
        </a:solidFill>
      </p:bgPr>
    </p:bg>
    <p:spTree>
      <p:nvGrpSpPr>
        <p:cNvPr id="1" name=""/>
        <p:cNvGrpSpPr/>
        <p:nvPr/>
      </p:nvGrpSpPr>
      <p:grpSpPr bwMode="auto">
        <a:xfrm>
          <a:off x="0" y="0"/>
          <a:ext cx="0" cy="0"/>
          <a:chOff x="0" y="0"/>
          <a:chExt cx="0" cy="0"/>
        </a:xfrm>
      </p:grpSpPr>
      <p:sp>
        <p:nvSpPr>
          <p:cNvPr id="1045585105" name="Text 0"/>
          <p:cNvSpPr/>
          <p:nvPr/>
        </p:nvSpPr>
        <p:spPr bwMode="auto">
          <a:xfrm flipH="0" flipV="0">
            <a:off x="49021" y="544809"/>
            <a:ext cx="9041847" cy="4473070"/>
          </a:xfrm>
          <a:prstGeom prst="rect">
            <a:avLst/>
          </a:prstGeom>
          <a:solidFill>
            <a:srgbClr val="1E293B"/>
          </a:solidFill>
          <a:ln/>
          <a:effectLst>
            <a:outerShdw blurRad="152400" dist="76200" dir="5400000" sx="100000" sy="100000" kx="0" ky="0" algn="bl" rotWithShape="0">
              <a:srgbClr val="000000">
                <a:alpha val="20000"/>
              </a:srgbClr>
            </a:outerShdw>
          </a:effectLst>
        </p:spPr>
        <p:txBody>
          <a:bodyPr wrap="square" lIns="0" tIns="0" rIns="0" bIns="0" rtlCol="0" anchor="ctr">
            <a:normAutofit/>
          </a:bodyPr>
          <a:lstStyle/>
          <a:p>
            <a:pPr marL="0" indent="0">
              <a:buNone/>
              <a:defRPr/>
            </a:pPr>
            <a:endParaRPr lang="en-US"/>
          </a:p>
        </p:txBody>
      </p:sp>
      <p:sp>
        <p:nvSpPr>
          <p:cNvPr id="767707091" name="Text 1"/>
          <p:cNvSpPr/>
          <p:nvPr/>
        </p:nvSpPr>
        <p:spPr bwMode="auto">
          <a:xfrm>
            <a:off x="304401" y="133349"/>
            <a:ext cx="8083296" cy="411460"/>
          </a:xfrm>
          <a:prstGeom prst="rect">
            <a:avLst/>
          </a:prstGeom>
          <a:noFill/>
          <a:ln/>
        </p:spPr>
        <p:txBody>
          <a:bodyPr wrap="square" lIns="0" tIns="0" rIns="0" bIns="0" rtlCol="0" anchor="t"/>
          <a:lstStyle/>
          <a:p>
            <a:pPr marL="0" indent="0">
              <a:lnSpc>
                <a:spcPts val="3240"/>
              </a:lnSpc>
              <a:buNone/>
              <a:defRPr/>
            </a:pPr>
            <a:r>
              <a:rPr lang="en-US" sz="2700" b="1">
                <a:solidFill>
                  <a:srgbClr val="38BDF8"/>
                </a:solidFill>
                <a:latin typeface="Arial"/>
                <a:ea typeface="Arial"/>
                <a:cs typeface="Arial"/>
              </a:rPr>
              <a:t>Fee Dedotta (Azioni) VS Fee non Dedotta (Crypto)</a:t>
            </a:r>
            <a:endParaRPr lang="en-US" sz="2700"/>
          </a:p>
        </p:txBody>
      </p:sp>
      <p:sp>
        <p:nvSpPr>
          <p:cNvPr id="245041975" name="Text 3"/>
          <p:cNvSpPr/>
          <p:nvPr/>
        </p:nvSpPr>
        <p:spPr bwMode="auto">
          <a:xfrm flipH="0" flipV="0">
            <a:off x="138749" y="590977"/>
            <a:ext cx="8903804" cy="4350978"/>
          </a:xfrm>
          <a:prstGeom prst="rect">
            <a:avLst/>
          </a:prstGeom>
          <a:noFill/>
          <a:ln/>
        </p:spPr>
        <p:txBody>
          <a:bodyPr wrap="square" lIns="0" tIns="0" rIns="0" bIns="0" rtlCol="0" anchor="t"/>
          <a:lstStyle/>
          <a:p>
            <a:pPr marL="0" indent="0">
              <a:lnSpc>
                <a:spcPts val="2159"/>
              </a:lnSpc>
              <a:buNone/>
              <a:defRPr/>
            </a:pPr>
            <a:endParaRPr lang="en-US" sz="1350">
              <a:solidFill>
                <a:srgbClr val="F1F5F9"/>
              </a:solidFill>
              <a:latin typeface="Arial"/>
              <a:ea typeface="Arial"/>
              <a:cs typeface="Arial"/>
            </a:endParaRPr>
          </a:p>
          <a:p>
            <a:pPr marL="0" indent="0">
              <a:lnSpc>
                <a:spcPts val="2160"/>
              </a:lnSpc>
              <a:buNone/>
              <a:defRPr/>
            </a:pPr>
            <a:r>
              <a:rPr lang="it-IT" sz="1350">
                <a:solidFill>
                  <a:schemeClr val="accent5">
                    <a:lumMod val="40000"/>
                    <a:lumOff val="60000"/>
                  </a:schemeClr>
                </a:solidFill>
                <a:latin typeface="Arial"/>
                <a:ea typeface="Arial"/>
                <a:cs typeface="Arial"/>
              </a:rPr>
              <a:t>ESEMPIO</a:t>
            </a:r>
            <a:r>
              <a:rPr lang="it-IT" sz="1350">
                <a:solidFill>
                  <a:srgbClr val="FFC000"/>
                </a:solidFill>
                <a:latin typeface="Arial"/>
                <a:ea typeface="Arial"/>
                <a:cs typeface="Arial"/>
              </a:rPr>
              <a:t> </a:t>
            </a:r>
            <a:r>
              <a:rPr lang="it-IT" sz="1350">
                <a:solidFill>
                  <a:srgbClr val="F1F5F9"/>
                </a:solidFill>
                <a:latin typeface="Arial"/>
                <a:ea typeface="Arial"/>
                <a:cs typeface="Arial"/>
              </a:rPr>
              <a:t>: </a:t>
            </a:r>
            <a:r>
              <a:rPr lang="en-US" sz="1350">
                <a:solidFill>
                  <a:srgbClr val="F1F5F9"/>
                </a:solidFill>
                <a:latin typeface="Arial"/>
                <a:ea typeface="Arial"/>
                <a:cs typeface="Arial"/>
              </a:rPr>
              <a:t>Scambio </a:t>
            </a:r>
            <a:r>
              <a:rPr lang="en-US" sz="1350" b="1">
                <a:solidFill>
                  <a:srgbClr val="F1F5F9"/>
                </a:solidFill>
                <a:latin typeface="Arial"/>
                <a:ea typeface="Arial"/>
                <a:cs typeface="Arial"/>
              </a:rPr>
              <a:t>10 </a:t>
            </a:r>
            <a:r>
              <a:rPr lang="it-IT" sz="1350" b="1">
                <a:solidFill>
                  <a:srgbClr val="F1F5F9"/>
                </a:solidFill>
                <a:latin typeface="Arial"/>
                <a:ea typeface="Arial"/>
                <a:cs typeface="Arial"/>
              </a:rPr>
              <a:t>CC</a:t>
            </a:r>
            <a:r>
              <a:rPr lang="en-US" sz="1350">
                <a:solidFill>
                  <a:srgbClr val="F1F5F9"/>
                </a:solidFill>
                <a:latin typeface="Arial"/>
                <a:ea typeface="Arial"/>
                <a:cs typeface="Arial"/>
              </a:rPr>
              <a:t> per </a:t>
            </a:r>
            <a:r>
              <a:rPr lang="en-US" sz="1350" b="1">
                <a:solidFill>
                  <a:srgbClr val="F1F5F9"/>
                </a:solidFill>
                <a:latin typeface="Arial"/>
                <a:ea typeface="Arial"/>
                <a:cs typeface="Arial"/>
              </a:rPr>
              <a:t>10 EUR</a:t>
            </a:r>
            <a:r>
              <a:rPr lang="en-US" sz="1350">
                <a:solidFill>
                  <a:srgbClr val="F1F5F9"/>
                </a:solidFill>
                <a:latin typeface="Arial"/>
                <a:ea typeface="Arial"/>
                <a:cs typeface="Arial"/>
              </a:rPr>
              <a:t> (con </a:t>
            </a:r>
            <a:r>
              <a:rPr lang="en-US" sz="1350" b="1">
                <a:solidFill>
                  <a:srgbClr val="F1F5F9"/>
                </a:solidFill>
                <a:latin typeface="Arial"/>
                <a:ea typeface="Arial"/>
                <a:cs typeface="Arial"/>
              </a:rPr>
              <a:t>1</a:t>
            </a:r>
            <a:r>
              <a:rPr lang="it-IT" sz="1350" b="1">
                <a:solidFill>
                  <a:srgbClr val="F1F5F9"/>
                </a:solidFill>
                <a:latin typeface="Arial"/>
                <a:ea typeface="Arial"/>
                <a:cs typeface="Arial"/>
              </a:rPr>
              <a:t> </a:t>
            </a:r>
            <a:r>
              <a:rPr lang="en-US" sz="1350" b="1">
                <a:solidFill>
                  <a:srgbClr val="F1F5F9"/>
                </a:solidFill>
                <a:latin typeface="Arial"/>
                <a:ea typeface="Arial"/>
                <a:cs typeface="Arial"/>
              </a:rPr>
              <a:t>EUR di fee</a:t>
            </a:r>
            <a:r>
              <a:rPr lang="en-US" sz="1350">
                <a:solidFill>
                  <a:srgbClr val="F1F5F9"/>
                </a:solidFill>
                <a:latin typeface="Arial"/>
                <a:ea typeface="Arial"/>
                <a:cs typeface="Arial"/>
              </a:rPr>
              <a:t>) -&gt; </a:t>
            </a:r>
            <a:r>
              <a:rPr lang="en-US" sz="1350">
                <a:solidFill>
                  <a:schemeClr val="accent4">
                    <a:lumMod val="20000"/>
                    <a:lumOff val="80000"/>
                  </a:schemeClr>
                </a:solidFill>
                <a:latin typeface="Arial"/>
                <a:ea typeface="Arial"/>
                <a:cs typeface="Arial"/>
              </a:rPr>
              <a:t>ricevo 9 EUR</a:t>
            </a:r>
            <a:endParaRPr lang="en-US" sz="1350">
              <a:solidFill>
                <a:srgbClr val="F1F5F9"/>
              </a:solidFill>
              <a:latin typeface="Arial"/>
              <a:ea typeface="Arial"/>
              <a:cs typeface="Arial"/>
            </a:endParaRPr>
          </a:p>
          <a:p>
            <a:pPr marL="0" indent="0">
              <a:lnSpc>
                <a:spcPts val="2159"/>
              </a:lnSpc>
              <a:buNone/>
              <a:defRPr/>
            </a:pPr>
            <a:r>
              <a:rPr lang="en-US" sz="1350">
                <a:solidFill>
                  <a:srgbClr val="F1F5F9"/>
                </a:solidFill>
                <a:latin typeface="Arial"/>
                <a:ea typeface="Arial"/>
                <a:cs typeface="Arial"/>
              </a:rPr>
              <a:t>In questo esempio </a:t>
            </a:r>
            <a:r>
              <a:rPr lang="it-IT" sz="1350">
                <a:solidFill>
                  <a:srgbClr val="F1F5F9"/>
                </a:solidFill>
                <a:latin typeface="Arial"/>
                <a:ea typeface="Arial"/>
                <a:cs typeface="Arial"/>
              </a:rPr>
              <a:t>il costo di carico di</a:t>
            </a:r>
            <a:r>
              <a:rPr lang="en-US" sz="1350">
                <a:solidFill>
                  <a:srgbClr val="F1F5F9"/>
                </a:solidFill>
                <a:latin typeface="Arial"/>
                <a:ea typeface="Arial"/>
                <a:cs typeface="Arial"/>
              </a:rPr>
              <a:t> 1</a:t>
            </a:r>
            <a:r>
              <a:rPr lang="it-IT" sz="1350">
                <a:solidFill>
                  <a:srgbClr val="F1F5F9"/>
                </a:solidFill>
                <a:latin typeface="Arial"/>
                <a:ea typeface="Arial"/>
                <a:cs typeface="Arial"/>
              </a:rPr>
              <a:t> CC</a:t>
            </a:r>
            <a:r>
              <a:rPr lang="en-US" sz="1350">
                <a:solidFill>
                  <a:srgbClr val="F1F5F9"/>
                </a:solidFill>
                <a:latin typeface="Arial"/>
                <a:ea typeface="Arial"/>
                <a:cs typeface="Arial"/>
              </a:rPr>
              <a:t> è </a:t>
            </a:r>
            <a:r>
              <a:rPr lang="it-IT" sz="1350">
                <a:solidFill>
                  <a:srgbClr val="F1F5F9"/>
                </a:solidFill>
                <a:latin typeface="Arial"/>
                <a:ea typeface="Arial"/>
                <a:cs typeface="Arial"/>
              </a:rPr>
              <a:t>0,5</a:t>
            </a:r>
            <a:r>
              <a:rPr lang="it-IT" sz="1350">
                <a:solidFill>
                  <a:srgbClr val="F1F5F9"/>
                </a:solidFill>
                <a:latin typeface="Arial"/>
                <a:ea typeface="Arial"/>
                <a:cs typeface="Arial"/>
              </a:rPr>
              <a:t>€, al momento della vendita invece equivale a 1€</a:t>
            </a:r>
            <a:endParaRPr lang="en-US" sz="1350">
              <a:solidFill>
                <a:srgbClr val="F1F5F9"/>
              </a:solidFill>
              <a:latin typeface="Arial"/>
              <a:ea typeface="Arial"/>
              <a:cs typeface="Arial"/>
            </a:endParaRPr>
          </a:p>
          <a:p>
            <a:pPr marL="0" indent="0">
              <a:lnSpc>
                <a:spcPts val="2159"/>
              </a:lnSpc>
              <a:buNone/>
              <a:defRPr/>
            </a:pPr>
            <a:endParaRPr lang="en-US" sz="1350">
              <a:solidFill>
                <a:srgbClr val="F1F5F9"/>
              </a:solidFill>
              <a:latin typeface="Arial"/>
              <a:ea typeface="Arial"/>
              <a:cs typeface="Arial"/>
            </a:endParaRPr>
          </a:p>
          <a:p>
            <a:pPr marL="234314" indent="-234314">
              <a:lnSpc>
                <a:spcPts val="2159"/>
              </a:lnSpc>
              <a:buFont typeface="Arial"/>
              <a:buChar char="•"/>
              <a:defRPr/>
            </a:pPr>
            <a:r>
              <a:rPr lang="en-US" sz="1350">
                <a:solidFill>
                  <a:schemeClr val="accent4">
                    <a:lumMod val="40000"/>
                    <a:lumOff val="60000"/>
                  </a:schemeClr>
                </a:solidFill>
                <a:latin typeface="Arial"/>
                <a:ea typeface="Arial"/>
                <a:cs typeface="Arial"/>
              </a:rPr>
              <a:t>Plusvalenza con fee dedotta</a:t>
            </a:r>
            <a:r>
              <a:rPr lang="en-US" sz="1350">
                <a:solidFill>
                  <a:srgbClr val="F1F5F9"/>
                </a:solidFill>
                <a:latin typeface="Arial"/>
                <a:ea typeface="Arial"/>
                <a:cs typeface="Arial"/>
              </a:rPr>
              <a:t> (</a:t>
            </a:r>
            <a:r>
              <a:rPr lang="en-US" sz="1350" b="1">
                <a:solidFill>
                  <a:schemeClr val="accent4">
                    <a:lumMod val="40000"/>
                    <a:lumOff val="60000"/>
                  </a:schemeClr>
                </a:solidFill>
                <a:latin typeface="Arial"/>
                <a:ea typeface="Arial"/>
                <a:cs typeface="Arial"/>
              </a:rPr>
              <a:t>Azionario</a:t>
            </a:r>
            <a:r>
              <a:rPr lang="en-US" sz="1350">
                <a:solidFill>
                  <a:srgbClr val="F1F5F9"/>
                </a:solidFill>
                <a:latin typeface="Arial"/>
                <a:ea typeface="Arial"/>
                <a:cs typeface="Arial"/>
              </a:rPr>
              <a:t>) = 10 (provento lordo) - 1 (fee) - </a:t>
            </a:r>
            <a:r>
              <a:rPr lang="it-IT" sz="1350">
                <a:solidFill>
                  <a:srgbClr val="F1F5F9"/>
                </a:solidFill>
                <a:latin typeface="Arial"/>
                <a:ea typeface="Arial"/>
                <a:cs typeface="Arial"/>
              </a:rPr>
              <a:t>5</a:t>
            </a:r>
            <a:r>
              <a:rPr lang="en-US" sz="1350">
                <a:solidFill>
                  <a:srgbClr val="F1F5F9"/>
                </a:solidFill>
                <a:latin typeface="Arial"/>
                <a:ea typeface="Arial"/>
                <a:cs typeface="Arial"/>
              </a:rPr>
              <a:t> (costo di carico totale) </a:t>
            </a:r>
            <a:r>
              <a:rPr lang="en-US" sz="1350">
                <a:solidFill>
                  <a:schemeClr val="bg1"/>
                </a:solidFill>
                <a:latin typeface="Arial"/>
                <a:ea typeface="Arial"/>
                <a:cs typeface="Arial"/>
              </a:rPr>
              <a:t>=</a:t>
            </a:r>
            <a:r>
              <a:rPr lang="en-US" sz="1350">
                <a:solidFill>
                  <a:schemeClr val="accent4">
                    <a:lumMod val="40000"/>
                    <a:lumOff val="60000"/>
                  </a:schemeClr>
                </a:solidFill>
                <a:latin typeface="Arial"/>
                <a:ea typeface="Arial"/>
                <a:cs typeface="Arial"/>
              </a:rPr>
              <a:t> </a:t>
            </a:r>
            <a:r>
              <a:rPr lang="it-IT" sz="1350" b="1">
                <a:solidFill>
                  <a:schemeClr val="accent4">
                    <a:lumMod val="40000"/>
                    <a:lumOff val="60000"/>
                  </a:schemeClr>
                </a:solidFill>
                <a:latin typeface="Arial"/>
                <a:ea typeface="Arial"/>
                <a:cs typeface="Arial"/>
              </a:rPr>
              <a:t>4</a:t>
            </a:r>
            <a:r>
              <a:rPr lang="en-US" sz="1350" b="1">
                <a:solidFill>
                  <a:schemeClr val="accent4">
                    <a:lumMod val="40000"/>
                    <a:lumOff val="60000"/>
                  </a:schemeClr>
                </a:solidFill>
                <a:latin typeface="Arial"/>
                <a:ea typeface="Arial"/>
                <a:cs typeface="Arial"/>
              </a:rPr>
              <a:t>EUR</a:t>
            </a:r>
            <a:endParaRPr lang="en-US" sz="1350">
              <a:solidFill>
                <a:srgbClr val="F1F5F9"/>
              </a:solidFill>
              <a:latin typeface="Arial"/>
              <a:ea typeface="Arial"/>
              <a:cs typeface="Arial"/>
            </a:endParaRPr>
          </a:p>
          <a:p>
            <a:pPr marL="0" indent="0">
              <a:lnSpc>
                <a:spcPts val="2159"/>
              </a:lnSpc>
              <a:buNone/>
              <a:defRPr/>
            </a:pPr>
            <a:r>
              <a:rPr lang="en-US" sz="1350">
                <a:solidFill>
                  <a:srgbClr val="F1F5F9"/>
                </a:solidFill>
                <a:latin typeface="Arial"/>
                <a:ea typeface="Arial"/>
                <a:cs typeface="Arial"/>
              </a:rPr>
              <a:t>(</a:t>
            </a:r>
            <a:r>
              <a:rPr lang="en-US" sz="1350" i="1">
                <a:solidFill>
                  <a:srgbClr val="F1F5F9"/>
                </a:solidFill>
                <a:latin typeface="Arial"/>
                <a:ea typeface="Arial"/>
                <a:cs typeface="Arial"/>
              </a:rPr>
              <a:t>Questo equivale esattamente a quello che ho guadagnato realmente nella transazione considerando i costi avuti</a:t>
            </a:r>
            <a:r>
              <a:rPr lang="en-US" sz="1350">
                <a:solidFill>
                  <a:srgbClr val="F1F5F9"/>
                </a:solidFill>
                <a:latin typeface="Arial"/>
                <a:ea typeface="Arial"/>
                <a:cs typeface="Arial"/>
              </a:rPr>
              <a:t>)</a:t>
            </a:r>
            <a:endParaRPr lang="en-US" sz="1350">
              <a:solidFill>
                <a:srgbClr val="F1F5F9"/>
              </a:solidFill>
              <a:latin typeface="Arial"/>
              <a:ea typeface="Arial"/>
              <a:cs typeface="Arial"/>
            </a:endParaRPr>
          </a:p>
          <a:p>
            <a:pPr marL="234314" indent="-234314">
              <a:lnSpc>
                <a:spcPts val="2159"/>
              </a:lnSpc>
              <a:buFont typeface="Arial"/>
              <a:buChar char="•"/>
              <a:defRPr/>
            </a:pPr>
            <a:r>
              <a:rPr lang="en-US" sz="1350">
                <a:solidFill>
                  <a:schemeClr val="accent4">
                    <a:lumMod val="40000"/>
                    <a:lumOff val="60000"/>
                  </a:schemeClr>
                </a:solidFill>
                <a:latin typeface="Arial"/>
                <a:ea typeface="Arial"/>
                <a:cs typeface="Arial"/>
              </a:rPr>
              <a:t>Plusvalenza con fee non dedotta</a:t>
            </a:r>
            <a:r>
              <a:rPr lang="en-US" sz="1350">
                <a:solidFill>
                  <a:srgbClr val="F1F5F9"/>
                </a:solidFill>
                <a:latin typeface="Arial"/>
                <a:ea typeface="Arial"/>
                <a:cs typeface="Arial"/>
              </a:rPr>
              <a:t> (</a:t>
            </a:r>
            <a:r>
              <a:rPr lang="en-US" sz="1350" b="1">
                <a:solidFill>
                  <a:schemeClr val="accent4">
                    <a:lumMod val="40000"/>
                    <a:lumOff val="60000"/>
                  </a:schemeClr>
                </a:solidFill>
                <a:latin typeface="Arial"/>
                <a:ea typeface="Arial"/>
                <a:cs typeface="Arial"/>
              </a:rPr>
              <a:t>Crypto</a:t>
            </a:r>
            <a:r>
              <a:rPr lang="en-US" sz="1350">
                <a:solidFill>
                  <a:srgbClr val="F1F5F9"/>
                </a:solidFill>
                <a:latin typeface="Arial"/>
                <a:ea typeface="Arial"/>
                <a:cs typeface="Arial"/>
              </a:rPr>
              <a:t>) = 10 (Provento lordo) - </a:t>
            </a:r>
            <a:r>
              <a:rPr lang="it-IT" sz="1350">
                <a:solidFill>
                  <a:srgbClr val="F1F5F9"/>
                </a:solidFill>
                <a:latin typeface="Arial"/>
                <a:ea typeface="Arial"/>
                <a:cs typeface="Arial"/>
              </a:rPr>
              <a:t>5</a:t>
            </a:r>
            <a:r>
              <a:rPr lang="en-US" sz="1350">
                <a:solidFill>
                  <a:srgbClr val="F1F5F9"/>
                </a:solidFill>
                <a:latin typeface="Arial"/>
                <a:ea typeface="Arial"/>
                <a:cs typeface="Arial"/>
              </a:rPr>
              <a:t> (costo di carico) =</a:t>
            </a:r>
            <a:r>
              <a:rPr lang="en-US" sz="1350">
                <a:solidFill>
                  <a:schemeClr val="accent4">
                    <a:lumMod val="40000"/>
                    <a:lumOff val="60000"/>
                  </a:schemeClr>
                </a:solidFill>
                <a:latin typeface="Arial"/>
                <a:ea typeface="Arial"/>
                <a:cs typeface="Arial"/>
              </a:rPr>
              <a:t> </a:t>
            </a:r>
            <a:r>
              <a:rPr lang="it-IT" sz="1350" b="1">
                <a:solidFill>
                  <a:schemeClr val="accent4">
                    <a:lumMod val="40000"/>
                    <a:lumOff val="60000"/>
                  </a:schemeClr>
                </a:solidFill>
                <a:latin typeface="Arial"/>
                <a:ea typeface="Arial"/>
                <a:cs typeface="Arial"/>
              </a:rPr>
              <a:t>5</a:t>
            </a:r>
            <a:r>
              <a:rPr lang="en-US" sz="1350" b="1">
                <a:solidFill>
                  <a:schemeClr val="accent4">
                    <a:lumMod val="40000"/>
                    <a:lumOff val="60000"/>
                  </a:schemeClr>
                </a:solidFill>
                <a:latin typeface="Arial"/>
                <a:ea typeface="Arial"/>
                <a:cs typeface="Arial"/>
              </a:rPr>
              <a:t> EUR</a:t>
            </a:r>
            <a:endParaRPr sz="1350" b="1">
              <a:solidFill>
                <a:srgbClr val="F1F5F9"/>
              </a:solidFill>
              <a:latin typeface="Arial"/>
              <a:ea typeface="Arial"/>
              <a:cs typeface="Arial"/>
            </a:endParaRPr>
          </a:p>
          <a:p>
            <a:pPr>
              <a:lnSpc>
                <a:spcPts val="2159"/>
              </a:lnSpc>
              <a:defRPr/>
            </a:pPr>
            <a:r>
              <a:rPr lang="en-US" sz="1350">
                <a:solidFill>
                  <a:srgbClr val="F1F5F9"/>
                </a:solidFill>
                <a:latin typeface="Arial"/>
                <a:ea typeface="Arial"/>
                <a:cs typeface="Arial"/>
              </a:rPr>
              <a:t>(</a:t>
            </a:r>
            <a:r>
              <a:rPr lang="en-US" sz="1350" i="1">
                <a:solidFill>
                  <a:srgbClr val="F1F5F9"/>
                </a:solidFill>
                <a:latin typeface="Arial"/>
                <a:ea typeface="Arial"/>
                <a:cs typeface="Arial"/>
              </a:rPr>
              <a:t>Questo equivale al guadagno avuto senza considerare i costi</a:t>
            </a:r>
            <a:r>
              <a:rPr lang="en-US" sz="1350">
                <a:solidFill>
                  <a:srgbClr val="F1F5F9"/>
                </a:solidFill>
                <a:latin typeface="Arial"/>
                <a:ea typeface="Arial"/>
                <a:cs typeface="Arial"/>
              </a:rPr>
              <a:t>)</a:t>
            </a:r>
            <a:endParaRPr lang="en-US" sz="1350">
              <a:solidFill>
                <a:srgbClr val="F1F5F9"/>
              </a:solidFill>
              <a:latin typeface="Arial"/>
              <a:ea typeface="Arial"/>
              <a:cs typeface="Arial"/>
            </a:endParaRPr>
          </a:p>
          <a:p>
            <a:pPr marL="234314" indent="-234314">
              <a:lnSpc>
                <a:spcPts val="2158"/>
              </a:lnSpc>
              <a:buFont typeface="Arial"/>
              <a:buChar char="•"/>
              <a:defRPr/>
            </a:pPr>
            <a:endParaRPr lang="en-US" sz="1350">
              <a:solidFill>
                <a:srgbClr val="F1F5F9"/>
              </a:solidFill>
              <a:latin typeface="Arial"/>
              <a:ea typeface="Arial"/>
              <a:cs typeface="Arial"/>
            </a:endParaRPr>
          </a:p>
          <a:p>
            <a:pPr>
              <a:lnSpc>
                <a:spcPts val="2158"/>
              </a:lnSpc>
              <a:defRPr/>
            </a:pPr>
            <a:r>
              <a:rPr lang="it-IT" sz="1350">
                <a:solidFill>
                  <a:srgbClr val="F1F5F9"/>
                </a:solidFill>
                <a:latin typeface="Arial"/>
                <a:ea typeface="Arial"/>
                <a:cs typeface="Arial"/>
              </a:rPr>
              <a:t>Supponiamo ora che invece che EUR ricevo EURK una stable algoritmica legata al prezzo dell’euro non rilevante fiscalmente, in questo caso devo solo spostare il costo di carico tra le monete ed ecco che accadrebbe:</a:t>
            </a:r>
            <a:endParaRPr lang="en-US" sz="1350">
              <a:solidFill>
                <a:srgbClr val="F1F5F9"/>
              </a:solidFill>
              <a:latin typeface="Arial"/>
              <a:ea typeface="Arial"/>
              <a:cs typeface="Arial"/>
            </a:endParaRPr>
          </a:p>
          <a:p>
            <a:pPr>
              <a:lnSpc>
                <a:spcPts val="2158"/>
              </a:lnSpc>
              <a:defRPr/>
            </a:pPr>
            <a:endParaRPr lang="it-IT" sz="1350">
              <a:solidFill>
                <a:srgbClr val="F1F5F9"/>
              </a:solidFill>
              <a:latin typeface="Arial"/>
              <a:ea typeface="Arial"/>
              <a:cs typeface="Arial"/>
            </a:endParaRPr>
          </a:p>
          <a:p>
            <a:pPr marL="234314" indent="-234314">
              <a:lnSpc>
                <a:spcPts val="2158"/>
              </a:lnSpc>
              <a:buFont typeface="Arial"/>
              <a:buChar char="•"/>
              <a:defRPr/>
            </a:pPr>
            <a:r>
              <a:rPr lang="it-IT" sz="1350" b="0" i="0" u="none" strike="noStrike" cap="none" spc="0">
                <a:solidFill>
                  <a:schemeClr val="accent4">
                    <a:lumMod val="40000"/>
                    <a:lumOff val="60000"/>
                  </a:schemeClr>
                </a:solidFill>
                <a:latin typeface="Arial"/>
                <a:ea typeface="Arial"/>
                <a:cs typeface="Arial"/>
              </a:rPr>
              <a:t>Costo di carico</a:t>
            </a:r>
            <a:r>
              <a:rPr lang="it-IT" sz="1350" b="0" i="0" u="none" strike="noStrike" cap="none" spc="0">
                <a:solidFill>
                  <a:schemeClr val="accent4">
                    <a:lumMod val="40000"/>
                    <a:lumOff val="60000"/>
                  </a:schemeClr>
                </a:solidFill>
                <a:latin typeface="Arial"/>
                <a:ea typeface="Arial"/>
                <a:cs typeface="Arial"/>
              </a:rPr>
              <a:t> </a:t>
            </a:r>
            <a:r>
              <a:rPr lang="en-US" sz="1350" b="0" i="0" u="none" strike="noStrike" cap="none" spc="0">
                <a:solidFill>
                  <a:schemeClr val="accent4">
                    <a:lumMod val="40000"/>
                    <a:lumOff val="60000"/>
                  </a:schemeClr>
                </a:solidFill>
                <a:latin typeface="Arial"/>
                <a:ea typeface="Arial"/>
                <a:cs typeface="Arial"/>
              </a:rPr>
              <a:t>c</a:t>
            </a:r>
            <a:r>
              <a:rPr lang="en-US" sz="1350" b="0" i="0" u="none" strike="noStrike" cap="none" spc="0">
                <a:solidFill>
                  <a:schemeClr val="accent4">
                    <a:lumMod val="40000"/>
                    <a:lumOff val="60000"/>
                  </a:schemeClr>
                </a:solidFill>
                <a:latin typeface="Arial"/>
                <a:ea typeface="Arial"/>
                <a:cs typeface="Arial"/>
              </a:rPr>
              <a:t>on fee dedotta</a:t>
            </a:r>
            <a:r>
              <a:rPr lang="it-IT" sz="1350" b="0" i="0" u="none" strike="noStrike" cap="none" spc="0">
                <a:solidFill>
                  <a:srgbClr val="F1F5F9"/>
                </a:solidFill>
                <a:latin typeface="Arial"/>
                <a:ea typeface="Arial"/>
                <a:cs typeface="Arial"/>
              </a:rPr>
              <a:t> = </a:t>
            </a:r>
            <a:r>
              <a:rPr lang="it-IT" sz="1350" b="0" i="0" u="none" strike="noStrike" cap="none" spc="0">
                <a:solidFill>
                  <a:schemeClr val="accent4">
                    <a:lumMod val="40000"/>
                    <a:lumOff val="60000"/>
                  </a:schemeClr>
                </a:solidFill>
                <a:latin typeface="Arial"/>
                <a:ea typeface="Arial"/>
                <a:cs typeface="Arial"/>
              </a:rPr>
              <a:t>5 €</a:t>
            </a:r>
            <a:r>
              <a:rPr lang="it-IT" sz="1350" b="0" i="0" u="none" strike="noStrike" cap="none" spc="0">
                <a:solidFill>
                  <a:srgbClr val="F1F5F9"/>
                </a:solidFill>
                <a:latin typeface="Arial"/>
                <a:ea typeface="Arial"/>
                <a:cs typeface="Arial"/>
              </a:rPr>
              <a:t> per 9 EURK ovvero 0,56€ unitario</a:t>
            </a:r>
            <a:endParaRPr lang="en-US" sz="1350">
              <a:solidFill>
                <a:srgbClr val="F1F5F9"/>
              </a:solidFill>
              <a:latin typeface="Arial"/>
              <a:ea typeface="Arial"/>
              <a:cs typeface="Arial"/>
            </a:endParaRPr>
          </a:p>
          <a:p>
            <a:pPr marL="234314" indent="-234314">
              <a:lnSpc>
                <a:spcPts val="2158"/>
              </a:lnSpc>
              <a:buFont typeface="Arial"/>
              <a:buChar char="•"/>
              <a:defRPr/>
            </a:pPr>
            <a:r>
              <a:rPr lang="it-IT" sz="1350" b="0" i="0" u="none" strike="noStrike" cap="none" spc="0">
                <a:solidFill>
                  <a:schemeClr val="accent4">
                    <a:lumMod val="40000"/>
                    <a:lumOff val="60000"/>
                  </a:schemeClr>
                </a:solidFill>
                <a:latin typeface="Arial"/>
                <a:ea typeface="Arial"/>
                <a:cs typeface="Arial"/>
              </a:rPr>
              <a:t>Costo </a:t>
            </a:r>
            <a:r>
              <a:rPr lang="it-IT" sz="1350" b="0" i="0" u="none" strike="noStrike" cap="none" spc="0">
                <a:solidFill>
                  <a:schemeClr val="accent4">
                    <a:lumMod val="40000"/>
                    <a:lumOff val="60000"/>
                  </a:schemeClr>
                </a:solidFill>
                <a:latin typeface="Arial"/>
                <a:ea typeface="Arial"/>
                <a:cs typeface="Arial"/>
              </a:rPr>
              <a:t>di carico</a:t>
            </a:r>
            <a:r>
              <a:rPr lang="it-IT" sz="1350" b="0" i="0" u="none" strike="noStrike" cap="none" spc="0">
                <a:solidFill>
                  <a:srgbClr val="F1F5F9"/>
                </a:solidFill>
                <a:latin typeface="Arial"/>
                <a:ea typeface="Arial"/>
                <a:cs typeface="Arial"/>
              </a:rPr>
              <a:t> </a:t>
            </a:r>
            <a:r>
              <a:rPr lang="en-US" sz="1350" b="0" i="0" u="none" strike="noStrike" cap="none" spc="0">
                <a:solidFill>
                  <a:schemeClr val="accent4">
                    <a:lumMod val="40000"/>
                    <a:lumOff val="60000"/>
                  </a:schemeClr>
                </a:solidFill>
                <a:latin typeface="Arial"/>
                <a:ea typeface="Arial"/>
                <a:cs typeface="Arial"/>
              </a:rPr>
              <a:t>con fee non dedotta</a:t>
            </a:r>
            <a:r>
              <a:rPr lang="en-US" sz="1350" b="0" i="0" u="none" strike="noStrike" cap="none" spc="0">
                <a:solidFill>
                  <a:srgbClr val="F1F5F9"/>
                </a:solidFill>
                <a:latin typeface="Arial"/>
                <a:ea typeface="Arial"/>
                <a:cs typeface="Arial"/>
              </a:rPr>
              <a:t> (</a:t>
            </a:r>
            <a:r>
              <a:rPr lang="en-US" sz="1350" b="1" i="0" u="none" strike="noStrike" cap="none" spc="0">
                <a:solidFill>
                  <a:schemeClr val="accent4">
                    <a:lumMod val="40000"/>
                    <a:lumOff val="60000"/>
                  </a:schemeClr>
                </a:solidFill>
                <a:latin typeface="Arial"/>
                <a:ea typeface="Arial"/>
                <a:cs typeface="Arial"/>
              </a:rPr>
              <a:t>Crypto</a:t>
            </a:r>
            <a:r>
              <a:rPr lang="en-US" sz="1350" b="0" i="0" u="none" strike="noStrike" cap="none" spc="0">
                <a:solidFill>
                  <a:srgbClr val="F1F5F9"/>
                </a:solidFill>
                <a:latin typeface="Arial"/>
                <a:ea typeface="Arial"/>
                <a:cs typeface="Arial"/>
              </a:rPr>
              <a:t>) </a:t>
            </a:r>
            <a:r>
              <a:rPr lang="it-IT" sz="1350" b="0" i="0" u="none" strike="noStrike" cap="none" spc="0">
                <a:solidFill>
                  <a:srgbClr val="F1F5F9"/>
                </a:solidFill>
                <a:latin typeface="Arial"/>
                <a:ea typeface="Arial"/>
                <a:cs typeface="Arial"/>
              </a:rPr>
              <a:t>= </a:t>
            </a:r>
            <a:r>
              <a:rPr lang="it-IT" sz="1350" b="0" i="0" u="none" strike="noStrike" cap="none" spc="0">
                <a:solidFill>
                  <a:schemeClr val="accent4">
                    <a:lumMod val="40000"/>
                    <a:lumOff val="60000"/>
                  </a:schemeClr>
                </a:solidFill>
                <a:latin typeface="Arial"/>
                <a:ea typeface="Arial"/>
                <a:cs typeface="Arial"/>
              </a:rPr>
              <a:t>4,5</a:t>
            </a:r>
            <a:r>
              <a:rPr lang="it-IT" sz="1350" b="0" i="0" u="none" strike="noStrike" cap="none" spc="0">
                <a:solidFill>
                  <a:srgbClr val="F1F5F9"/>
                </a:solidFill>
                <a:latin typeface="Arial"/>
                <a:ea typeface="Arial"/>
                <a:cs typeface="Arial"/>
              </a:rPr>
              <a:t> </a:t>
            </a:r>
            <a:r>
              <a:rPr lang="it-IT" sz="1350" b="0" i="0" u="none" strike="noStrike" cap="none" spc="0">
                <a:solidFill>
                  <a:schemeClr val="accent4">
                    <a:lumMod val="40000"/>
                    <a:lumOff val="60000"/>
                  </a:schemeClr>
                </a:solidFill>
                <a:latin typeface="Arial"/>
                <a:ea typeface="Arial"/>
                <a:cs typeface="Arial"/>
              </a:rPr>
              <a:t>€</a:t>
            </a:r>
            <a:r>
              <a:rPr lang="it-IT" sz="1350" b="0" i="0" u="none" strike="noStrike" cap="none" spc="0">
                <a:solidFill>
                  <a:srgbClr val="F1F5F9"/>
                </a:solidFill>
                <a:latin typeface="Arial"/>
                <a:ea typeface="Arial"/>
                <a:cs typeface="Arial"/>
              </a:rPr>
              <a:t> per i 9 EURK ricevuti (gli altri 0,5€ se ne vanno con le fee)</a:t>
            </a:r>
            <a:endParaRPr lang="it-IT" sz="1350" b="0" i="0" u="none" strike="noStrike" cap="none" spc="0">
              <a:solidFill>
                <a:srgbClr val="F1F5F9"/>
              </a:solidFill>
              <a:latin typeface="Times New Roman"/>
              <a:cs typeface="Times New Roman"/>
            </a:endParaRPr>
          </a:p>
          <a:p>
            <a:pPr>
              <a:lnSpc>
                <a:spcPts val="2158"/>
              </a:lnSpc>
              <a:defRPr/>
            </a:pPr>
            <a:endParaRPr lang="en-US" sz="1350">
              <a:solidFill>
                <a:srgbClr val="F1F5F9"/>
              </a:solidFill>
              <a:latin typeface="Arial"/>
              <a:ea typeface="Arial"/>
              <a:cs typeface="Arial"/>
            </a:endParaRPr>
          </a:p>
          <a:p>
            <a:pPr marL="0" indent="0">
              <a:lnSpc>
                <a:spcPts val="2159"/>
              </a:lnSpc>
              <a:buNone/>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0F172A"/>
        </a:solidFill>
      </p:bgPr>
    </p:bg>
    <p:spTree>
      <p:nvGrpSpPr>
        <p:cNvPr id="1" name=""/>
        <p:cNvGrpSpPr/>
        <p:nvPr/>
      </p:nvGrpSpPr>
      <p:grpSpPr bwMode="auto">
        <a:xfrm>
          <a:off x="0" y="0"/>
          <a:ext cx="0" cy="0"/>
          <a:chOff x="0" y="0"/>
          <a:chExt cx="0" cy="0"/>
        </a:xfrm>
      </p:grpSpPr>
      <p:sp>
        <p:nvSpPr>
          <p:cNvPr id="1625502883" name="Text 1"/>
          <p:cNvSpPr/>
          <p:nvPr/>
        </p:nvSpPr>
        <p:spPr bwMode="auto">
          <a:xfrm>
            <a:off x="609600" y="609600"/>
            <a:ext cx="8083296" cy="411460"/>
          </a:xfrm>
          <a:prstGeom prst="rect">
            <a:avLst/>
          </a:prstGeom>
          <a:noFill/>
          <a:ln/>
        </p:spPr>
        <p:txBody>
          <a:bodyPr wrap="square" lIns="0" tIns="0" rIns="0" bIns="0" rtlCol="0" anchor="t"/>
          <a:lstStyle/>
          <a:p>
            <a:pPr marL="0" indent="0">
              <a:lnSpc>
                <a:spcPts val="3240"/>
              </a:lnSpc>
              <a:buNone/>
              <a:defRPr/>
            </a:pPr>
            <a:r>
              <a:rPr lang="en-US" sz="2700" b="1">
                <a:solidFill>
                  <a:srgbClr val="38BDF8"/>
                </a:solidFill>
                <a:latin typeface="Arial"/>
                <a:ea typeface="Arial"/>
                <a:cs typeface="Arial"/>
              </a:rPr>
              <a:t>Tipologia di fee</a:t>
            </a:r>
            <a:endParaRPr lang="en-US" sz="2700"/>
          </a:p>
        </p:txBody>
      </p:sp>
      <p:sp>
        <p:nvSpPr>
          <p:cNvPr id="1050322940" name="Text 2"/>
          <p:cNvSpPr/>
          <p:nvPr/>
        </p:nvSpPr>
        <p:spPr bwMode="auto">
          <a:xfrm>
            <a:off x="609600" y="1249661"/>
            <a:ext cx="8083296" cy="240010"/>
          </a:xfrm>
          <a:prstGeom prst="rect">
            <a:avLst/>
          </a:prstGeom>
          <a:noFill/>
          <a:ln/>
        </p:spPr>
        <p:txBody>
          <a:bodyPr wrap="square" lIns="0" tIns="0" rIns="0" bIns="0" rtlCol="0" anchor="t"/>
          <a:lstStyle/>
          <a:p>
            <a:pPr marL="0" indent="0">
              <a:lnSpc>
                <a:spcPts val="1890"/>
              </a:lnSpc>
              <a:buNone/>
              <a:defRPr/>
            </a:pPr>
            <a:r>
              <a:rPr lang="en-US" sz="1350">
                <a:solidFill>
                  <a:schemeClr val="accent4">
                    <a:lumMod val="40000"/>
                    <a:lumOff val="60000"/>
                  </a:schemeClr>
                </a:solidFill>
                <a:latin typeface="Arial"/>
                <a:ea typeface="Arial"/>
                <a:cs typeface="Arial"/>
              </a:rPr>
              <a:t>3 Tipi di fee:</a:t>
            </a:r>
            <a:endParaRPr sz="1350">
              <a:solidFill>
                <a:schemeClr val="accent4">
                  <a:lumMod val="40000"/>
                  <a:lumOff val="60000"/>
                </a:schemeClr>
              </a:solidFill>
            </a:endParaRPr>
          </a:p>
        </p:txBody>
      </p:sp>
      <p:sp>
        <p:nvSpPr>
          <p:cNvPr id="2129712738" name="Text 3"/>
          <p:cNvSpPr/>
          <p:nvPr/>
        </p:nvSpPr>
        <p:spPr bwMode="auto">
          <a:xfrm flipH="0" flipV="0">
            <a:off x="529888" y="1642070"/>
            <a:ext cx="8068010" cy="3120428"/>
          </a:xfrm>
          <a:prstGeom prst="rect">
            <a:avLst/>
          </a:prstGeom>
          <a:noFill/>
          <a:ln/>
        </p:spPr>
        <p:txBody>
          <a:bodyPr wrap="square" lIns="0" tIns="0" rIns="0" bIns="0" rtlCol="0" anchor="t"/>
          <a:lstStyle/>
          <a:p>
            <a:pPr marL="342900" indent="-342900">
              <a:lnSpc>
                <a:spcPts val="2430"/>
              </a:lnSpc>
              <a:buSzPct val="100000"/>
              <a:buChar char="•"/>
              <a:defRPr/>
            </a:pPr>
            <a:r>
              <a:rPr lang="en-US" sz="1350">
                <a:solidFill>
                  <a:schemeClr val="accent4">
                    <a:lumMod val="40000"/>
                    <a:lumOff val="60000"/>
                  </a:schemeClr>
                </a:solidFill>
                <a:latin typeface="Arial"/>
                <a:ea typeface="Arial"/>
                <a:cs typeface="Arial"/>
              </a:rPr>
              <a:t>Fee nella moneta di acquisto</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	Es. Vendo 10 EURC per 9 EUR con fee 1 EURC</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	In questo caso lo scambio è di 9 EURC per 9 EUR e l’exchange si trattiene 1 EURC alla fonte</a:t>
            </a:r>
            <a:endParaRPr lang="en-US" sz="1350"/>
          </a:p>
          <a:p>
            <a:pPr marL="342900" indent="-342900">
              <a:lnSpc>
                <a:spcPts val="2430"/>
              </a:lnSpc>
              <a:buSzPct val="100000"/>
              <a:buChar char="•"/>
              <a:defRPr/>
            </a:pPr>
            <a:r>
              <a:rPr lang="en-US" sz="1350">
                <a:solidFill>
                  <a:schemeClr val="accent4">
                    <a:lumMod val="40000"/>
                    <a:lumOff val="60000"/>
                  </a:schemeClr>
                </a:solidFill>
                <a:latin typeface="Arial"/>
                <a:ea typeface="Arial"/>
                <a:cs typeface="Arial"/>
              </a:rPr>
              <a:t>Fee nella moneta di destinazione</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	Es. Vendo 10 EURC per 10 EUR con fee 1 EUR</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	Scambio 10 EURC per 10 EUR poi l’exchange si trattiene 1 EUR</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chemeClr val="accent4">
                    <a:lumMod val="40000"/>
                    <a:lumOff val="60000"/>
                  </a:schemeClr>
                </a:solidFill>
                <a:latin typeface="Arial"/>
                <a:ea typeface="Arial"/>
                <a:cs typeface="Arial"/>
              </a:rPr>
              <a:t>Fee</a:t>
            </a:r>
            <a:r>
              <a:rPr lang="en-US" sz="1350">
                <a:solidFill>
                  <a:schemeClr val="accent4">
                    <a:lumMod val="40000"/>
                    <a:lumOff val="60000"/>
                  </a:schemeClr>
                </a:solidFill>
                <a:latin typeface="Arial"/>
                <a:ea typeface="Arial"/>
                <a:cs typeface="Arial"/>
              </a:rPr>
              <a:t> in moneta terza</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	Es. Vendo 10 EURC per 10 EUR fee 0.0001 ETH</a:t>
            </a: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0F172A"/>
        </a:solidFill>
      </p:bgPr>
    </p:bg>
    <p:spTree>
      <p:nvGrpSpPr>
        <p:cNvPr id="1" name=""/>
        <p:cNvGrpSpPr/>
        <p:nvPr/>
      </p:nvGrpSpPr>
      <p:grpSpPr bwMode="auto">
        <a:xfrm>
          <a:off x="0" y="0"/>
          <a:ext cx="0" cy="0"/>
          <a:chOff x="0" y="0"/>
          <a:chExt cx="0" cy="0"/>
        </a:xfrm>
      </p:grpSpPr>
      <p:sp>
        <p:nvSpPr>
          <p:cNvPr id="1061527609" name="Text 1"/>
          <p:cNvSpPr/>
          <p:nvPr/>
        </p:nvSpPr>
        <p:spPr bwMode="auto">
          <a:xfrm>
            <a:off x="609598" y="381827"/>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Fee in Moneta di Acquisto</a:t>
            </a:r>
            <a:endParaRPr lang="en-US" sz="2700"/>
          </a:p>
        </p:txBody>
      </p:sp>
      <p:sp>
        <p:nvSpPr>
          <p:cNvPr id="844569929" name="Text 3"/>
          <p:cNvSpPr/>
          <p:nvPr/>
        </p:nvSpPr>
        <p:spPr bwMode="auto">
          <a:xfrm flipH="0" flipV="0">
            <a:off x="359619" y="957100"/>
            <a:ext cx="8636934" cy="3777790"/>
          </a:xfrm>
          <a:prstGeom prst="rect">
            <a:avLst/>
          </a:prstGeom>
          <a:noFill/>
          <a:ln/>
        </p:spPr>
        <p:txBody>
          <a:bodyPr wrap="square" lIns="0" tIns="0" rIns="0" bIns="0" rtlCol="0" anchor="t"/>
          <a:lstStyle/>
          <a:p>
            <a:pPr>
              <a:lnSpc>
                <a:spcPts val="2429"/>
              </a:lnSpc>
              <a:defRPr/>
            </a:pPr>
            <a:r>
              <a:rPr lang="en-US" sz="1350" b="1">
                <a:solidFill>
                  <a:schemeClr val="accent4">
                    <a:lumMod val="40000"/>
                    <a:lumOff val="60000"/>
                  </a:schemeClr>
                </a:solidFill>
                <a:latin typeface="Arial"/>
                <a:ea typeface="Arial"/>
                <a:cs typeface="Arial"/>
              </a:rPr>
              <a:t>Dati:</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Posseggo 10 token “PIPPO” con costo di carico unitario 0,5€</a:t>
            </a:r>
            <a:endParaRPr lang="en-US" sz="1350">
              <a:solidFill>
                <a:srgbClr val="CBD5E1"/>
              </a:solidFill>
              <a:latin typeface="Arial"/>
              <a:ea typeface="Arial"/>
              <a:cs typeface="Arial"/>
            </a:endParaRPr>
          </a:p>
          <a:p>
            <a:pPr marL="342900" indent="-342900">
              <a:lnSpc>
                <a:spcPts val="2429"/>
              </a:lnSpc>
              <a:buSzPct val="100000"/>
              <a:buChar char="•"/>
              <a:defRPr/>
            </a:pPr>
            <a:r>
              <a:rPr lang="en-US" sz="1200">
                <a:solidFill>
                  <a:srgbClr val="CBD5E1"/>
                </a:solidFill>
                <a:latin typeface="Arial"/>
                <a:ea typeface="Arial"/>
                <a:cs typeface="Arial"/>
              </a:rPr>
              <a:t>Al momento della vendita 1 token PIPPO vale 1€ ma l’exchange si trattiene 1 PIPPO di commissioni (fee al 10%)</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Vendo quindi 9 PIPPO per 9 EURO (Incremento di valore del 100%)</a:t>
            </a:r>
            <a:endParaRPr lang="en-US" sz="1350">
              <a:solidFill>
                <a:srgbClr val="CBD5E1"/>
              </a:solidFill>
              <a:latin typeface="Arial"/>
              <a:ea typeface="Arial"/>
              <a:cs typeface="Arial"/>
            </a:endParaRPr>
          </a:p>
          <a:p>
            <a:pPr>
              <a:lnSpc>
                <a:spcPts val="2429"/>
              </a:lnSpc>
              <a:defRPr/>
            </a:pPr>
            <a:r>
              <a:rPr lang="en-US" sz="1350" b="1">
                <a:solidFill>
                  <a:schemeClr val="accent4">
                    <a:lumMod val="40000"/>
                    <a:lumOff val="60000"/>
                  </a:schemeClr>
                </a:solidFill>
                <a:latin typeface="Arial"/>
                <a:ea typeface="Arial"/>
                <a:cs typeface="Arial"/>
              </a:rPr>
              <a:t>Calcolo Plusvalenza</a:t>
            </a:r>
            <a:r>
              <a:rPr lang="it-IT" sz="1350" b="1">
                <a:solidFill>
                  <a:schemeClr val="accent4">
                    <a:lumMod val="40000"/>
                    <a:lumOff val="60000"/>
                  </a:schemeClr>
                </a:solidFill>
                <a:latin typeface="Arial"/>
                <a:ea typeface="Arial"/>
                <a:cs typeface="Arial"/>
              </a:rPr>
              <a:t>:</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a:solidFill>
                  <a:srgbClr val="CBD5E1"/>
                </a:solidFill>
                <a:latin typeface="Arial"/>
                <a:ea typeface="Arial"/>
                <a:cs typeface="Arial"/>
              </a:rPr>
              <a:t>P/L = 9 (Prezzo di vendita) - 4,5 (Costo di carico dei 9 PIPPO) = 4,5€</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b="0" i="0" u="none" strike="noStrike" cap="none" spc="0">
                <a:solidFill>
                  <a:srgbClr val="CBD5E1"/>
                </a:solidFill>
                <a:latin typeface="Arial"/>
                <a:ea typeface="Arial"/>
                <a:cs typeface="Arial"/>
              </a:rPr>
              <a:t>Do all ’exchange 1 PIPPO come commissione (Valore 1€ Costo di carico 0,5€) </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	(Plusvalenza accessoria da calcolare se considerate le fee come un acquisto di servizi)</a:t>
            </a:r>
            <a:endParaRPr lang="en-US" sz="1350" b="0" i="0" u="none" strike="noStrike" cap="none" spc="0">
              <a:solidFill>
                <a:srgbClr val="CBD5E1"/>
              </a:solidFill>
              <a:latin typeface="Times New Roman"/>
              <a:cs typeface="Times New Roman"/>
            </a:endParaRPr>
          </a:p>
          <a:p>
            <a:pPr>
              <a:lnSpc>
                <a:spcPts val="2428"/>
              </a:lnSpc>
              <a:defRPr/>
            </a:pPr>
            <a:r>
              <a:rPr lang="it-IT" sz="1350" b="1" i="0" u="none" strike="noStrike" cap="none" spc="0">
                <a:solidFill>
                  <a:schemeClr val="accent4">
                    <a:lumMod val="40000"/>
                    <a:lumOff val="60000"/>
                  </a:schemeClr>
                </a:solidFill>
                <a:latin typeface="Arial"/>
                <a:ea typeface="Arial"/>
                <a:cs typeface="Arial"/>
              </a:rPr>
              <a:t>Risultati:</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Base</a:t>
            </a:r>
            <a:r>
              <a:rPr lang="en-US" sz="1350" b="0" i="0" u="none" strike="noStrike" cap="none" spc="0">
                <a:solidFill>
                  <a:srgbClr val="CBD5E1"/>
                </a:solidFill>
                <a:latin typeface="Arial"/>
                <a:ea typeface="Arial"/>
                <a:cs typeface="Arial"/>
              </a:rPr>
              <a:t> </a:t>
            </a:r>
            <a:r>
              <a:rPr lang="it-IT" sz="1350" b="0" i="0" u="none" strike="noStrike" cap="none" spc="0">
                <a:solidFill>
                  <a:srgbClr val="CBD5E1"/>
                </a:solidFill>
                <a:latin typeface="Arial"/>
                <a:ea typeface="Arial"/>
                <a:cs typeface="Arial"/>
              </a:rPr>
              <a:t>=</a:t>
            </a:r>
            <a:r>
              <a:rPr lang="en-US" sz="1350" b="0" i="0" u="none" strike="noStrike" cap="none" spc="0">
                <a:solidFill>
                  <a:srgbClr val="CBD5E1"/>
                </a:solidFill>
                <a:latin typeface="Arial"/>
                <a:ea typeface="Arial"/>
                <a:cs typeface="Arial"/>
              </a:rPr>
              <a:t> </a:t>
            </a:r>
            <a:r>
              <a:rPr lang="en-US" sz="1400" b="1" i="0" u="none" strike="noStrike" cap="none" spc="0">
                <a:solidFill>
                  <a:schemeClr val="accent4">
                    <a:lumMod val="40000"/>
                    <a:lumOff val="60000"/>
                  </a:schemeClr>
                </a:solidFill>
                <a:latin typeface="Arial"/>
                <a:ea typeface="Arial"/>
                <a:cs typeface="Arial"/>
              </a:rPr>
              <a:t>4,5</a:t>
            </a:r>
            <a:r>
              <a:rPr lang="en-US" sz="1400" b="1">
                <a:solidFill>
                  <a:schemeClr val="accent4">
                    <a:lumMod val="40000"/>
                    <a:lumOff val="60000"/>
                  </a:schemeClr>
                </a:solidFill>
                <a:latin typeface="Arial"/>
                <a:ea typeface="Arial"/>
                <a:cs typeface="Arial"/>
              </a:rPr>
              <a:t>€</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considerando le fee</a:t>
            </a:r>
            <a:r>
              <a:rPr lang="en-US" sz="1350" b="0" i="0" u="none" strike="noStrike" cap="none" spc="0">
                <a:solidFill>
                  <a:srgbClr val="CBD5E1"/>
                </a:solidFill>
                <a:latin typeface="Arial"/>
                <a:ea typeface="Arial"/>
                <a:cs typeface="Arial"/>
              </a:rPr>
              <a:t> </a:t>
            </a:r>
            <a:r>
              <a:rPr lang="it-IT" sz="1350" b="0" i="0" u="none" strike="noStrike" cap="none" spc="0">
                <a:solidFill>
                  <a:srgbClr val="CBD5E1"/>
                </a:solidFill>
                <a:latin typeface="Arial"/>
                <a:ea typeface="Arial"/>
                <a:cs typeface="Arial"/>
              </a:rPr>
              <a:t>=</a:t>
            </a:r>
            <a:r>
              <a:rPr lang="en-US" sz="1350" b="0" i="0" u="none" strike="noStrike" cap="none" spc="0">
                <a:solidFill>
                  <a:srgbClr val="CBD5E1"/>
                </a:solidFill>
                <a:latin typeface="Arial"/>
                <a:ea typeface="Arial"/>
                <a:cs typeface="Arial"/>
              </a:rPr>
              <a:t> </a:t>
            </a:r>
            <a:r>
              <a:rPr lang="en-US" sz="1400" b="1" i="0" u="none" strike="noStrike" cap="none" spc="0">
                <a:solidFill>
                  <a:schemeClr val="accent4">
                    <a:lumMod val="40000"/>
                    <a:lumOff val="60000"/>
                  </a:schemeClr>
                </a:solidFill>
                <a:latin typeface="Arial"/>
                <a:ea typeface="Arial"/>
                <a:cs typeface="Arial"/>
              </a:rPr>
              <a:t>5</a:t>
            </a:r>
            <a:r>
              <a:rPr lang="en-US" sz="1400" b="1" i="0" u="none" strike="noStrike" cap="none" spc="0">
                <a:solidFill>
                  <a:schemeClr val="accent4">
                    <a:lumMod val="40000"/>
                    <a:lumOff val="60000"/>
                  </a:schemeClr>
                </a:solidFill>
                <a:latin typeface="Arial"/>
                <a:ea typeface="Arial"/>
                <a:cs typeface="Arial"/>
              </a:rPr>
              <a:t>€</a:t>
            </a:r>
            <a:r>
              <a:rPr lang="en-US" sz="1350" b="0" i="0" u="none" strike="noStrike" cap="none" spc="0">
                <a:solidFill>
                  <a:schemeClr val="accent4">
                    <a:lumMod val="40000"/>
                    <a:lumOff val="60000"/>
                  </a:schemeClr>
                </a:solidFill>
                <a:latin typeface="Arial"/>
                <a:ea typeface="Arial"/>
                <a:cs typeface="Arial"/>
              </a:rPr>
              <a:t> </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Guadagno Reale</a:t>
            </a:r>
            <a:r>
              <a:rPr lang="en-US" sz="1350" b="0" i="0" u="none" strike="noStrike" cap="none" spc="0">
                <a:solidFill>
                  <a:srgbClr val="CBD5E1"/>
                </a:solidFill>
                <a:latin typeface="Arial"/>
                <a:ea typeface="Arial"/>
                <a:cs typeface="Arial"/>
              </a:rPr>
              <a:t> </a:t>
            </a:r>
            <a:r>
              <a:rPr lang="it-IT" sz="1350" b="0" i="0" u="none" strike="noStrike" cap="none" spc="0">
                <a:solidFill>
                  <a:srgbClr val="CBD5E1"/>
                </a:solidFill>
                <a:latin typeface="Arial"/>
                <a:ea typeface="Arial"/>
                <a:cs typeface="Arial"/>
              </a:rPr>
              <a:t>=</a:t>
            </a:r>
            <a:r>
              <a:rPr lang="en-US" sz="1350" b="0" i="0" u="none" strike="noStrike" cap="none" spc="0">
                <a:solidFill>
                  <a:srgbClr val="CBD5E1"/>
                </a:solidFill>
                <a:latin typeface="Arial"/>
                <a:ea typeface="Arial"/>
                <a:cs typeface="Arial"/>
              </a:rPr>
              <a:t> </a:t>
            </a:r>
            <a:r>
              <a:rPr lang="en-US" sz="1400" b="1" i="0" u="none" strike="noStrike" cap="none" spc="0">
                <a:solidFill>
                  <a:schemeClr val="accent4">
                    <a:lumMod val="40000"/>
                    <a:lumOff val="60000"/>
                  </a:schemeClr>
                </a:solidFill>
                <a:latin typeface="Arial"/>
                <a:ea typeface="Arial"/>
                <a:cs typeface="Arial"/>
              </a:rPr>
              <a:t>4€</a:t>
            </a:r>
            <a:endParaRPr lang="en-US" sz="1350">
              <a:solidFill>
                <a:srgbClr val="CBD5E1"/>
              </a:solidFill>
              <a:latin typeface="Arial"/>
              <a:ea typeface="Arial"/>
              <a:cs typeface="Arial"/>
            </a:endParaRPr>
          </a:p>
          <a:p>
            <a:pPr marL="234314" indent="-234314">
              <a:lnSpc>
                <a:spcPts val="2428"/>
              </a:lnSpc>
              <a:buFont typeface="Arial"/>
              <a:buChar char="•"/>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0F172A"/>
        </a:solidFill>
      </p:bgPr>
    </p:bg>
    <p:spTree>
      <p:nvGrpSpPr>
        <p:cNvPr id="1" name=""/>
        <p:cNvGrpSpPr/>
        <p:nvPr/>
      </p:nvGrpSpPr>
      <p:grpSpPr bwMode="auto">
        <a:xfrm>
          <a:off x="0" y="0"/>
          <a:ext cx="0" cy="0"/>
          <a:chOff x="0" y="0"/>
          <a:chExt cx="0" cy="0"/>
        </a:xfrm>
      </p:grpSpPr>
      <p:sp>
        <p:nvSpPr>
          <p:cNvPr id="1993218358" name="Text 1"/>
          <p:cNvSpPr/>
          <p:nvPr/>
        </p:nvSpPr>
        <p:spPr bwMode="auto">
          <a:xfrm>
            <a:off x="609598" y="326609"/>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Fee in Moneta di Vendita</a:t>
            </a:r>
            <a:endParaRPr lang="en-US" sz="2700"/>
          </a:p>
        </p:txBody>
      </p:sp>
      <p:sp>
        <p:nvSpPr>
          <p:cNvPr id="413721000" name="Text 3"/>
          <p:cNvSpPr/>
          <p:nvPr/>
        </p:nvSpPr>
        <p:spPr bwMode="auto">
          <a:xfrm flipH="0" flipV="0">
            <a:off x="401031" y="901883"/>
            <a:ext cx="8595521" cy="3833007"/>
          </a:xfrm>
          <a:prstGeom prst="rect">
            <a:avLst/>
          </a:prstGeom>
          <a:noFill/>
          <a:ln/>
        </p:spPr>
        <p:txBody>
          <a:bodyPr wrap="square" lIns="0" tIns="0" rIns="0" bIns="0" rtlCol="0" anchor="t"/>
          <a:lstStyle/>
          <a:p>
            <a:pPr>
              <a:lnSpc>
                <a:spcPts val="2429"/>
              </a:lnSpc>
              <a:defRPr/>
            </a:pPr>
            <a:r>
              <a:rPr lang="en-US" sz="1350" b="1">
                <a:solidFill>
                  <a:schemeClr val="accent4">
                    <a:lumMod val="40000"/>
                    <a:lumOff val="60000"/>
                  </a:schemeClr>
                </a:solidFill>
                <a:latin typeface="Arial"/>
                <a:ea typeface="Arial"/>
                <a:cs typeface="Arial"/>
              </a:rPr>
              <a:t>Dati:</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Posseggo 10 token “PIPPO” con costo di carico unitario 0,5€</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Vendo quindi 10 PIPPO per 10 EURO (Incremento di valore del 100%)</a:t>
            </a:r>
            <a:endParaRPr lang="en-US" sz="1350">
              <a:solidFill>
                <a:srgbClr val="CBD5E1"/>
              </a:solidFill>
              <a:latin typeface="Arial"/>
              <a:ea typeface="Arial"/>
              <a:cs typeface="Arial"/>
            </a:endParaRPr>
          </a:p>
          <a:p>
            <a:pPr marL="342900" indent="-342900">
              <a:lnSpc>
                <a:spcPts val="2429"/>
              </a:lnSpc>
              <a:buSzPct val="100000"/>
              <a:buChar char="•"/>
              <a:defRPr/>
            </a:pPr>
            <a:r>
              <a:rPr lang="en-US" sz="1200" b="0" i="0" u="none" strike="noStrike" cap="none" spc="0">
                <a:solidFill>
                  <a:srgbClr val="CBD5E1"/>
                </a:solidFill>
                <a:latin typeface="Arial"/>
                <a:ea typeface="Arial"/>
                <a:cs typeface="Arial"/>
              </a:rPr>
              <a:t>Dopo la vendita 1€ lo trattiene l’exchange per le commissioni (fee al 10%)</a:t>
            </a:r>
            <a:endParaRPr lang="en-US" sz="1350">
              <a:solidFill>
                <a:srgbClr val="CBD5E1"/>
              </a:solidFill>
              <a:latin typeface="Arial"/>
              <a:ea typeface="Arial"/>
              <a:cs typeface="Arial"/>
            </a:endParaRPr>
          </a:p>
          <a:p>
            <a:pPr>
              <a:lnSpc>
                <a:spcPts val="2429"/>
              </a:lnSpc>
              <a:defRPr/>
            </a:pPr>
            <a:r>
              <a:rPr lang="en-US" sz="1350" b="1">
                <a:solidFill>
                  <a:schemeClr val="accent4">
                    <a:lumMod val="40000"/>
                    <a:lumOff val="60000"/>
                  </a:schemeClr>
                </a:solidFill>
                <a:latin typeface="Arial"/>
                <a:ea typeface="Arial"/>
                <a:cs typeface="Arial"/>
              </a:rPr>
              <a:t>Calcolo Plusvalenza</a:t>
            </a:r>
            <a:r>
              <a:rPr lang="it-IT" sz="1350" b="1">
                <a:solidFill>
                  <a:schemeClr val="accent4">
                    <a:lumMod val="40000"/>
                    <a:lumOff val="60000"/>
                  </a:schemeClr>
                </a:solidFill>
                <a:latin typeface="Arial"/>
                <a:ea typeface="Arial"/>
                <a:cs typeface="Arial"/>
              </a:rPr>
              <a:t>:</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a:solidFill>
                  <a:srgbClr val="CBD5E1"/>
                </a:solidFill>
                <a:latin typeface="Arial"/>
                <a:ea typeface="Arial"/>
                <a:cs typeface="Arial"/>
              </a:rPr>
              <a:t>P/L = 10 (Prezzo di vendita) - 5 (Costo di carico dei 10 PIPPO) = 5€</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b="0" i="0" u="none" strike="noStrike" cap="none" spc="0">
                <a:solidFill>
                  <a:srgbClr val="CBD5E1"/>
                </a:solidFill>
                <a:latin typeface="Arial"/>
                <a:ea typeface="Arial"/>
                <a:cs typeface="Arial"/>
              </a:rPr>
              <a:t>Do all ’exchange 1 EUR come commissione (Valore 1€ Costo di carico 1€) </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	(In ogni caso non vi sono ulteriori plusvalenze)</a:t>
            </a:r>
            <a:endParaRPr lang="en-US" sz="1350" b="0" i="0" u="none" strike="noStrike" cap="none" spc="0">
              <a:solidFill>
                <a:srgbClr val="CBD5E1"/>
              </a:solidFill>
              <a:latin typeface="Arial"/>
              <a:ea typeface="Arial"/>
              <a:cs typeface="Arial"/>
            </a:endParaRPr>
          </a:p>
          <a:p>
            <a:pPr>
              <a:lnSpc>
                <a:spcPts val="2428"/>
              </a:lnSpc>
              <a:defRPr/>
            </a:pPr>
            <a:r>
              <a:rPr lang="it-IT" sz="1350" b="1" i="0" u="none" strike="noStrike" cap="none" spc="0">
                <a:solidFill>
                  <a:schemeClr val="accent4">
                    <a:lumMod val="40000"/>
                    <a:lumOff val="60000"/>
                  </a:schemeClr>
                </a:solidFill>
                <a:latin typeface="Arial"/>
                <a:ea typeface="Arial"/>
                <a:cs typeface="Arial"/>
              </a:rPr>
              <a:t>Risultati</a:t>
            </a:r>
            <a:r>
              <a:rPr lang="it-IT" sz="1350" b="1" i="0" u="none" strike="noStrike" cap="none" spc="0">
                <a:solidFill>
                  <a:schemeClr val="accent4">
                    <a:lumMod val="40000"/>
                    <a:lumOff val="60000"/>
                  </a:schemeClr>
                </a:solidFill>
                <a:latin typeface="Arial"/>
                <a:ea typeface="Arial"/>
                <a:cs typeface="Arial"/>
              </a:rPr>
              <a:t>:</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Base : </a:t>
            </a:r>
            <a:r>
              <a:rPr lang="en-US" sz="1400" b="1" i="0" u="none" strike="noStrike" cap="none" spc="0">
                <a:solidFill>
                  <a:schemeClr val="accent4">
                    <a:lumMod val="40000"/>
                    <a:lumOff val="60000"/>
                  </a:schemeClr>
                </a:solidFill>
                <a:latin typeface="Arial"/>
                <a:ea typeface="Arial"/>
                <a:cs typeface="Arial"/>
              </a:rPr>
              <a:t>5</a:t>
            </a:r>
            <a:r>
              <a:rPr lang="en-US" sz="1400" b="1">
                <a:solidFill>
                  <a:schemeClr val="accent4">
                    <a:lumMod val="40000"/>
                    <a:lumOff val="60000"/>
                  </a:schemeClr>
                </a:solidFill>
                <a:latin typeface="Arial"/>
                <a:ea typeface="Arial"/>
                <a:cs typeface="Arial"/>
              </a:rPr>
              <a:t>€</a:t>
            </a:r>
            <a:endParaRPr sz="1400" b="1"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considerando le fee : </a:t>
            </a:r>
            <a:r>
              <a:rPr lang="en-US" sz="1400" b="1" i="0" u="none" strike="noStrike" cap="none" spc="0">
                <a:solidFill>
                  <a:schemeClr val="accent4">
                    <a:lumMod val="40000"/>
                    <a:lumOff val="60000"/>
                  </a:schemeClr>
                </a:solidFill>
                <a:latin typeface="Arial"/>
                <a:ea typeface="Arial"/>
                <a:cs typeface="Arial"/>
              </a:rPr>
              <a:t>5</a:t>
            </a:r>
            <a:r>
              <a:rPr lang="en-US" sz="1400" b="1" i="0" u="none" strike="noStrike" cap="none" spc="0">
                <a:solidFill>
                  <a:schemeClr val="accent4">
                    <a:lumMod val="40000"/>
                    <a:lumOff val="60000"/>
                  </a:schemeClr>
                </a:solidFill>
                <a:latin typeface="Arial"/>
                <a:ea typeface="Arial"/>
                <a:cs typeface="Arial"/>
              </a:rPr>
              <a:t>€</a:t>
            </a:r>
            <a:r>
              <a:rPr lang="en-US" sz="1350" b="1" i="0" u="none" strike="noStrike" cap="none" spc="0">
                <a:solidFill>
                  <a:schemeClr val="accent4">
                    <a:lumMod val="40000"/>
                    <a:lumOff val="60000"/>
                  </a:schemeClr>
                </a:solidFill>
                <a:latin typeface="Arial"/>
                <a:ea typeface="Arial"/>
                <a:cs typeface="Arial"/>
              </a:rPr>
              <a:t> </a:t>
            </a:r>
            <a:endParaRPr sz="1350" b="1"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Guadagno Reale : </a:t>
            </a:r>
            <a:r>
              <a:rPr lang="en-US" sz="1400" b="1" i="0" u="none" strike="noStrike" cap="none" spc="0">
                <a:solidFill>
                  <a:schemeClr val="accent4">
                    <a:lumMod val="40000"/>
                    <a:lumOff val="60000"/>
                  </a:schemeClr>
                </a:solidFill>
                <a:latin typeface="Arial"/>
                <a:ea typeface="Arial"/>
                <a:cs typeface="Arial"/>
              </a:rPr>
              <a:t>4€</a:t>
            </a:r>
            <a:endParaRPr lang="en-US" sz="1350">
              <a:solidFill>
                <a:srgbClr val="CBD5E1"/>
              </a:solidFill>
              <a:latin typeface="Arial"/>
              <a:ea typeface="Arial"/>
              <a:cs typeface="Arial"/>
            </a:endParaRPr>
          </a:p>
          <a:p>
            <a:pPr marL="234314" indent="-234314">
              <a:lnSpc>
                <a:spcPts val="2428"/>
              </a:lnSpc>
              <a:buFont typeface="Arial"/>
              <a:buChar char="•"/>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0F172A"/>
        </a:solidFill>
      </p:bgPr>
    </p:bg>
    <p:spTree>
      <p:nvGrpSpPr>
        <p:cNvPr id="1" name=""/>
        <p:cNvGrpSpPr/>
        <p:nvPr/>
      </p:nvGrpSpPr>
      <p:grpSpPr bwMode="auto">
        <a:xfrm>
          <a:off x="0" y="0"/>
          <a:ext cx="0" cy="0"/>
          <a:chOff x="0" y="0"/>
          <a:chExt cx="0" cy="0"/>
        </a:xfrm>
      </p:grpSpPr>
      <p:sp>
        <p:nvSpPr>
          <p:cNvPr id="1969669209" name="Text 1"/>
          <p:cNvSpPr/>
          <p:nvPr/>
        </p:nvSpPr>
        <p:spPr bwMode="auto">
          <a:xfrm>
            <a:off x="609598" y="319707"/>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Fee in Moneta diversa</a:t>
            </a:r>
            <a:endParaRPr lang="en-US" sz="2700"/>
          </a:p>
        </p:txBody>
      </p:sp>
      <p:sp>
        <p:nvSpPr>
          <p:cNvPr id="1405174217" name="Text 3"/>
          <p:cNvSpPr/>
          <p:nvPr/>
        </p:nvSpPr>
        <p:spPr bwMode="auto">
          <a:xfrm flipH="0" flipV="0">
            <a:off x="352717" y="772584"/>
            <a:ext cx="8643836" cy="3831165"/>
          </a:xfrm>
          <a:prstGeom prst="rect">
            <a:avLst/>
          </a:prstGeom>
          <a:noFill/>
          <a:ln/>
        </p:spPr>
        <p:txBody>
          <a:bodyPr wrap="square" lIns="0" tIns="0" rIns="0" bIns="0" rtlCol="0" anchor="t"/>
          <a:lstStyle/>
          <a:p>
            <a:pPr>
              <a:lnSpc>
                <a:spcPts val="2429"/>
              </a:lnSpc>
              <a:defRPr/>
            </a:pPr>
            <a:r>
              <a:rPr lang="en-US" sz="1350" b="1">
                <a:solidFill>
                  <a:schemeClr val="accent4">
                    <a:lumMod val="40000"/>
                    <a:lumOff val="60000"/>
                  </a:schemeClr>
                </a:solidFill>
                <a:latin typeface="Arial"/>
                <a:ea typeface="Arial"/>
                <a:cs typeface="Arial"/>
              </a:rPr>
              <a:t>Dati:</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Posseggo 9 token “PIPPO” con costo di carico unitario 0,5€</a:t>
            </a: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Vendo quindi 9 PIPPO per 9 EURO (Incremento di valore del 100%)</a:t>
            </a:r>
            <a:endParaRPr lang="en-US" sz="1350">
              <a:solidFill>
                <a:srgbClr val="CBD5E1"/>
              </a:solidFill>
              <a:latin typeface="Arial"/>
              <a:ea typeface="Arial"/>
              <a:cs typeface="Arial"/>
            </a:endParaRPr>
          </a:p>
          <a:p>
            <a:pPr marL="342900" indent="-342900">
              <a:lnSpc>
                <a:spcPts val="2429"/>
              </a:lnSpc>
              <a:buSzPct val="100000"/>
              <a:buChar char="•"/>
              <a:defRPr/>
            </a:pPr>
            <a:r>
              <a:rPr lang="en-US" sz="1200" b="0" i="0" u="none" strike="noStrike" cap="none" spc="0">
                <a:solidFill>
                  <a:srgbClr val="CBD5E1"/>
                </a:solidFill>
                <a:latin typeface="Arial"/>
                <a:ea typeface="Arial"/>
                <a:cs typeface="Arial"/>
              </a:rPr>
              <a:t>Pago la fee di 0,0001 ETH che avevano un costo di carico di 0,5€ e un prezzo al momento della cessione di 1€</a:t>
            </a:r>
            <a:endParaRPr lang="en-US" sz="1350">
              <a:solidFill>
                <a:srgbClr val="CBD5E1"/>
              </a:solidFill>
              <a:latin typeface="Arial"/>
              <a:ea typeface="Arial"/>
              <a:cs typeface="Arial"/>
            </a:endParaRPr>
          </a:p>
          <a:p>
            <a:pPr>
              <a:lnSpc>
                <a:spcPts val="2429"/>
              </a:lnSpc>
              <a:defRPr/>
            </a:pPr>
            <a:r>
              <a:rPr lang="en-US" sz="1350" b="1">
                <a:solidFill>
                  <a:schemeClr val="accent4">
                    <a:lumMod val="40000"/>
                    <a:lumOff val="60000"/>
                  </a:schemeClr>
                </a:solidFill>
                <a:latin typeface="Arial"/>
                <a:ea typeface="Arial"/>
                <a:cs typeface="Arial"/>
              </a:rPr>
              <a:t>Calcolo Plusvalenza</a:t>
            </a:r>
            <a:r>
              <a:rPr lang="it-IT" sz="1350" b="1">
                <a:solidFill>
                  <a:schemeClr val="accent4">
                    <a:lumMod val="40000"/>
                    <a:lumOff val="60000"/>
                  </a:schemeClr>
                </a:solidFill>
                <a:latin typeface="Arial"/>
                <a:ea typeface="Arial"/>
                <a:cs typeface="Arial"/>
              </a:rPr>
              <a:t>:</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a:solidFill>
                  <a:srgbClr val="CBD5E1"/>
                </a:solidFill>
                <a:latin typeface="Arial"/>
                <a:ea typeface="Arial"/>
                <a:cs typeface="Arial"/>
              </a:rPr>
              <a:t>P/L = 9 (Prezzo di vendita) - 9 (Costo di carico dei 9 PIPPO) = 4.5€</a:t>
            </a:r>
            <a:endParaRPr lang="en-US" sz="1350">
              <a:solidFill>
                <a:srgbClr val="CBD5E1"/>
              </a:solidFill>
              <a:latin typeface="Arial"/>
              <a:ea typeface="Arial"/>
              <a:cs typeface="Arial"/>
            </a:endParaRPr>
          </a:p>
          <a:p>
            <a:pPr marL="234314" indent="-234314">
              <a:lnSpc>
                <a:spcPts val="2429"/>
              </a:lnSpc>
              <a:buFont typeface="Arial"/>
              <a:buAutoNum type="arabicPeriod"/>
              <a:defRPr/>
            </a:pPr>
            <a:r>
              <a:rPr lang="en-US" sz="1350" b="0" i="0" u="none" strike="noStrike" cap="none" spc="0">
                <a:solidFill>
                  <a:srgbClr val="CBD5E1"/>
                </a:solidFill>
                <a:latin typeface="Arial"/>
                <a:ea typeface="Arial"/>
                <a:cs typeface="Arial"/>
              </a:rPr>
              <a:t>Fee </a:t>
            </a:r>
            <a:r>
              <a:rPr lang="en-US" sz="1350" b="0" i="0" u="none" strike="noStrike" cap="none" spc="0">
                <a:solidFill>
                  <a:srgbClr val="CBD5E1"/>
                </a:solidFill>
                <a:latin typeface="Arial"/>
                <a:ea typeface="Arial"/>
                <a:cs typeface="Arial"/>
              </a:rPr>
              <a:t>0,0001 ETH</a:t>
            </a:r>
            <a:r>
              <a:rPr lang="en-US" sz="1350" b="0" i="0" u="none" strike="noStrike" cap="none" spc="0">
                <a:solidFill>
                  <a:srgbClr val="CBD5E1"/>
                </a:solidFill>
                <a:latin typeface="Arial"/>
                <a:ea typeface="Arial"/>
                <a:cs typeface="Arial"/>
              </a:rPr>
              <a:t> (Valore 1€ Costo di carico 0,5€) </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	(Plusvalenza accessoria da calcolare se considerate le fee come un acquisto di servizi)</a:t>
            </a:r>
            <a:endParaRPr lang="en-US" sz="1350" b="0" i="0" u="none" strike="noStrike" cap="none" spc="0">
              <a:solidFill>
                <a:srgbClr val="CBD5E1"/>
              </a:solidFill>
              <a:latin typeface="Arial"/>
              <a:ea typeface="Arial"/>
              <a:cs typeface="Arial"/>
            </a:endParaRPr>
          </a:p>
          <a:p>
            <a:pPr>
              <a:lnSpc>
                <a:spcPts val="2428"/>
              </a:lnSpc>
              <a:defRPr/>
            </a:pPr>
            <a:r>
              <a:rPr lang="it-IT" sz="1350" b="1" i="0" u="none" strike="noStrike" cap="none" spc="0">
                <a:solidFill>
                  <a:schemeClr val="accent4">
                    <a:lumMod val="40000"/>
                    <a:lumOff val="60000"/>
                  </a:schemeClr>
                </a:solidFill>
                <a:latin typeface="Arial"/>
                <a:ea typeface="Arial"/>
                <a:cs typeface="Arial"/>
              </a:rPr>
              <a:t>Risultati:</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Base : </a:t>
            </a:r>
            <a:r>
              <a:rPr lang="en-US" sz="1400" b="1" i="0" u="none" strike="noStrike" cap="none" spc="0">
                <a:solidFill>
                  <a:srgbClr val="CBD5E1"/>
                </a:solidFill>
                <a:latin typeface="Arial"/>
                <a:ea typeface="Arial"/>
                <a:cs typeface="Arial"/>
              </a:rPr>
              <a:t>4,5</a:t>
            </a:r>
            <a:r>
              <a:rPr lang="en-US" sz="1400" b="1">
                <a:solidFill>
                  <a:srgbClr val="CBD5E1"/>
                </a:solidFill>
                <a:latin typeface="Arial"/>
                <a:ea typeface="Arial"/>
                <a:cs typeface="Arial"/>
              </a:rPr>
              <a:t>€</a:t>
            </a:r>
            <a:endParaRPr sz="1350" b="1"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Plusvalenza considerando le fee : </a:t>
            </a:r>
            <a:r>
              <a:rPr lang="en-US" sz="1400" b="1" i="0" u="none" strike="noStrike" cap="none" spc="0">
                <a:solidFill>
                  <a:srgbClr val="CBD5E1"/>
                </a:solidFill>
                <a:latin typeface="Arial"/>
                <a:ea typeface="Arial"/>
                <a:cs typeface="Arial"/>
              </a:rPr>
              <a:t>5</a:t>
            </a:r>
            <a:r>
              <a:rPr lang="en-US" sz="1400" b="1" i="0" u="none" strike="noStrike" cap="none" spc="0">
                <a:solidFill>
                  <a:srgbClr val="CBD5E1"/>
                </a:solidFill>
                <a:latin typeface="Arial"/>
                <a:ea typeface="Arial"/>
                <a:cs typeface="Arial"/>
              </a:rPr>
              <a:t>€ </a:t>
            </a:r>
            <a:endParaRPr sz="1350" b="1"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Guadagno Reale : </a:t>
            </a:r>
            <a:r>
              <a:rPr lang="en-US" sz="1400" b="1" i="0" u="none" strike="noStrike" cap="none" spc="0">
                <a:solidFill>
                  <a:srgbClr val="CBD5E1"/>
                </a:solidFill>
                <a:latin typeface="Arial"/>
                <a:ea typeface="Arial"/>
                <a:cs typeface="Arial"/>
              </a:rPr>
              <a:t>4€</a:t>
            </a:r>
            <a:endParaRPr lang="en-US" sz="1350">
              <a:solidFill>
                <a:srgbClr val="CBD5E1"/>
              </a:solidFill>
              <a:latin typeface="Arial"/>
              <a:ea typeface="Arial"/>
              <a:cs typeface="Arial"/>
            </a:endParaRPr>
          </a:p>
          <a:p>
            <a:pPr marL="234314" indent="-234314">
              <a:lnSpc>
                <a:spcPts val="2428"/>
              </a:lnSpc>
              <a:buFont typeface="Arial"/>
              <a:buChar char="•"/>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2143740867" name="Text 0"/>
          <p:cNvSpPr/>
          <p:nvPr/>
        </p:nvSpPr>
        <p:spPr bwMode="auto">
          <a:xfrm>
            <a:off x="609598" y="285196"/>
            <a:ext cx="8083296" cy="411459"/>
          </a:xfrm>
          <a:prstGeom prst="rect">
            <a:avLst/>
          </a:prstGeom>
          <a:noFill/>
          <a:ln/>
        </p:spPr>
        <p:txBody>
          <a:bodyPr wrap="square" lIns="0" tIns="0" rIns="0" bIns="0" rtlCol="0" anchor="t"/>
          <a:lstStyle/>
          <a:p>
            <a:pPr marL="0" indent="0">
              <a:lnSpc>
                <a:spcPts val="3239"/>
              </a:lnSpc>
              <a:buNone/>
              <a:defRPr/>
            </a:pPr>
            <a:r>
              <a:rPr lang="it-IT" sz="2700" b="1">
                <a:solidFill>
                  <a:srgbClr val="38BDF8"/>
                </a:solidFill>
                <a:latin typeface="Arial"/>
                <a:ea typeface="Arial"/>
                <a:cs typeface="Arial"/>
              </a:rPr>
              <a:t>Quanto incide le fee sulla tassazione</a:t>
            </a:r>
            <a:endParaRPr lang="en-US" sz="2700"/>
          </a:p>
        </p:txBody>
      </p:sp>
      <p:sp>
        <p:nvSpPr>
          <p:cNvPr id="804210974" name="Text 1"/>
          <p:cNvSpPr/>
          <p:nvPr/>
        </p:nvSpPr>
        <p:spPr bwMode="auto">
          <a:xfrm flipH="0" flipV="0">
            <a:off x="359619" y="814822"/>
            <a:ext cx="8333275" cy="3872671"/>
          </a:xfrm>
          <a:prstGeom prst="rect">
            <a:avLst/>
          </a:prstGeom>
          <a:noFill/>
          <a:ln/>
        </p:spPr>
        <p:txBody>
          <a:bodyPr wrap="square" lIns="0" tIns="0" rIns="0" bIns="0" rtlCol="0" anchor="t"/>
          <a:lstStyle/>
          <a:p>
            <a:pPr>
              <a:lnSpc>
                <a:spcPts val="2428"/>
              </a:lnSpc>
              <a:defRPr/>
            </a:pPr>
            <a:endParaRPr lang="it-IT" sz="1350" b="0" i="0" u="none" strike="noStrike" cap="none" spc="0">
              <a:solidFill>
                <a:srgbClr val="CBD5E1"/>
              </a:solidFill>
              <a:latin typeface="Arial"/>
              <a:ea typeface="Arial"/>
              <a:cs typeface="Arial"/>
            </a:endParaRPr>
          </a:p>
          <a:p>
            <a:pPr marL="234314" indent="-234314">
              <a:lnSpc>
                <a:spcPts val="2429"/>
              </a:lnSpc>
              <a:buFont typeface="Arial"/>
              <a:buAutoNum type="arabicPeriod"/>
              <a:defRPr/>
            </a:pPr>
            <a:r>
              <a:rPr lang="it-IT" sz="1350" b="0" i="0" u="none" strike="noStrike" cap="none" spc="0">
                <a:solidFill>
                  <a:srgbClr val="CBD5E1"/>
                </a:solidFill>
                <a:latin typeface="Arial"/>
                <a:ea typeface="Arial"/>
                <a:cs typeface="Arial"/>
              </a:rPr>
              <a:t>Come abbiamo visto il guadagno “reale” è ben diverso da quello tassato, e il guadagno tassato è quasi sempre superiore a quello reale.</a:t>
            </a: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r>
              <a:rPr lang="it-IT" sz="1350" b="0" i="0" u="none" strike="noStrike" cap="none" spc="0">
                <a:solidFill>
                  <a:srgbClr val="CBD5E1"/>
                </a:solidFill>
                <a:latin typeface="Arial"/>
                <a:ea typeface="Arial"/>
                <a:cs typeface="Arial"/>
              </a:rPr>
              <a:t>Paradossalmente se non siamo attenti potremmo trovarci a pagare una tassa più alta di quello che abbiamo guadagnato</a:t>
            </a:r>
            <a:r>
              <a:rPr lang="it-IT" sz="1350" b="0" i="0" u="none" strike="noStrike" cap="none" spc="0">
                <a:solidFill>
                  <a:srgbClr val="CBD5E1"/>
                </a:solidFill>
                <a:latin typeface="Arial"/>
                <a:ea typeface="Arial"/>
                <a:cs typeface="Arial"/>
              </a:rPr>
              <a:t>.</a:t>
            </a: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endParaRPr lang="it-IT" sz="1350" b="0" i="0" u="none" strike="noStrike" cap="none" spc="0">
              <a:solidFill>
                <a:srgbClr val="CBD5E1"/>
              </a:solidFill>
              <a:latin typeface="Arial"/>
              <a:ea typeface="Arial"/>
              <a:cs typeface="Arial"/>
            </a:endParaRPr>
          </a:p>
          <a:p>
            <a:pPr marL="234314" indent="-234314">
              <a:lnSpc>
                <a:spcPts val="2428"/>
              </a:lnSpc>
              <a:buFont typeface="Arial"/>
              <a:buAutoNum type="arabicPeriod"/>
              <a:defRPr/>
            </a:pPr>
            <a:r>
              <a:rPr lang="it-IT" sz="1350" b="0" i="0" u="none" strike="noStrike" cap="none" spc="0">
                <a:solidFill>
                  <a:srgbClr val="CBD5E1"/>
                </a:solidFill>
                <a:latin typeface="Arial"/>
                <a:ea typeface="Arial"/>
                <a:cs typeface="Arial"/>
              </a:rPr>
              <a:t>E’ quindi importante capire qual’é la tassazione reale sulle transazioni per evitare perdite.</a:t>
            </a:r>
            <a:endParaRPr lang="it-IT" sz="1350" b="0" i="0" u="none" strike="noStrike" cap="none" spc="0">
              <a:solidFill>
                <a:srgbClr val="CBD5E1"/>
              </a:solidFill>
              <a:latin typeface="Arial"/>
              <a:ea typeface="Arial"/>
              <a:cs typeface="Arial"/>
            </a:endParaRPr>
          </a:p>
          <a:p>
            <a:pPr>
              <a:lnSpc>
                <a:spcPts val="2428"/>
              </a:lnSpc>
              <a:defRPr/>
            </a:pPr>
            <a:endParaRPr lang="en-US" sz="1350">
              <a:solidFill>
                <a:srgbClr val="CBD5E1"/>
              </a:solidFill>
              <a:latin typeface="Arial"/>
              <a:ea typeface="Arial"/>
              <a:cs typeface="Arial"/>
            </a:endParaRPr>
          </a:p>
          <a:p>
            <a:pPr>
              <a:lnSpc>
                <a:spcPts val="2428"/>
              </a:lnSpc>
              <a:defRPr/>
            </a:pPr>
            <a:endParaRPr lang="it-IT" sz="1350" b="0" i="0" u="none" strike="noStrike" cap="none" spc="0">
              <a:solidFill>
                <a:srgbClr val="CBD5E1"/>
              </a:solidFill>
              <a:latin typeface="Arial"/>
              <a:ea typeface="Arial"/>
              <a:cs typeface="Arial"/>
            </a:endParaRPr>
          </a:p>
          <a:p>
            <a:pPr marL="234314" indent="-234314">
              <a:lnSpc>
                <a:spcPts val="2428"/>
              </a:lnSpc>
              <a:buFont typeface="Arial"/>
              <a:buChar char="•"/>
              <a:defRPr/>
            </a:pPr>
            <a:endParaRPr sz="1600" u="none" strike="noStrike" cap="none" spc="0">
              <a:solidFill>
                <a:schemeClr val="bg1"/>
              </a:solidFill>
              <a:latin typeface="Cambria Math"/>
              <a:ea typeface="Cambria Math"/>
              <a:cs typeface="Cambria Math"/>
            </a:endParaRPr>
          </a:p>
          <a:p>
            <a:pPr>
              <a:lnSpc>
                <a:spcPts val="2429"/>
              </a:lnSpc>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1612377277" name="Text 0"/>
          <p:cNvSpPr/>
          <p:nvPr/>
        </p:nvSpPr>
        <p:spPr bwMode="auto">
          <a:xfrm>
            <a:off x="609598" y="209271"/>
            <a:ext cx="8083296" cy="411458"/>
          </a:xfrm>
          <a:prstGeom prst="rect">
            <a:avLst/>
          </a:prstGeom>
          <a:noFill/>
          <a:ln/>
        </p:spPr>
        <p:txBody>
          <a:bodyPr wrap="square" lIns="0" tIns="0" rIns="0" bIns="0" rtlCol="0" anchor="t"/>
          <a:lstStyle/>
          <a:p>
            <a:pPr marL="0" indent="0">
              <a:lnSpc>
                <a:spcPts val="3238"/>
              </a:lnSpc>
              <a:buNone/>
              <a:defRPr/>
            </a:pPr>
            <a:r>
              <a:rPr lang="it-IT" sz="2700" b="1">
                <a:solidFill>
                  <a:srgbClr val="38BDF8"/>
                </a:solidFill>
                <a:latin typeface="Arial"/>
                <a:ea typeface="Arial"/>
                <a:cs typeface="Arial"/>
              </a:rPr>
              <a:t>Quanto incide le fee sulla tassazione</a:t>
            </a:r>
            <a:endParaRPr lang="en-US" sz="2700"/>
          </a:p>
        </p:txBody>
      </p:sp>
      <p:sp>
        <p:nvSpPr>
          <p:cNvPr id="1462746396" name="Text 1"/>
          <p:cNvSpPr/>
          <p:nvPr/>
        </p:nvSpPr>
        <p:spPr bwMode="auto">
          <a:xfrm flipH="0" flipV="0">
            <a:off x="359619" y="669877"/>
            <a:ext cx="8333275" cy="4161644"/>
          </a:xfrm>
          <a:prstGeom prst="rect">
            <a:avLst/>
          </a:prstGeom>
          <a:noFill/>
          <a:ln/>
        </p:spPr>
        <p:txBody>
          <a:bodyPr wrap="square" lIns="0" tIns="0" rIns="0" bIns="0" rtlCol="0" anchor="t"/>
          <a:lstStyle/>
          <a:p>
            <a:pPr>
              <a:lnSpc>
                <a:spcPts val="2428"/>
              </a:lnSpc>
              <a:defRPr/>
            </a:pPr>
            <a:r>
              <a:rPr lang="it-IT" sz="1350">
                <a:solidFill>
                  <a:schemeClr val="bg1"/>
                </a:solidFill>
                <a:latin typeface="Arial"/>
                <a:ea typeface="Arial"/>
                <a:cs typeface="Arial"/>
              </a:rPr>
              <a:t>Tabella di tassazione reale su varie casistiche (</a:t>
            </a:r>
            <a:r>
              <a:rPr lang="it-IT" sz="1000" b="1" i="0" u="none" strike="noStrike" cap="none" spc="0">
                <a:solidFill>
                  <a:srgbClr val="CBD5E1"/>
                </a:solidFill>
                <a:latin typeface="Arial"/>
                <a:ea typeface="Arial"/>
                <a:cs typeface="Arial"/>
              </a:rPr>
              <a:t>Attenzione formule autoprodotte soggette ad errori</a:t>
            </a:r>
            <a:r>
              <a:rPr lang="it-IT" sz="1350">
                <a:solidFill>
                  <a:schemeClr val="bg1"/>
                </a:solidFill>
                <a:latin typeface="Arial"/>
                <a:ea typeface="Arial"/>
                <a:cs typeface="Arial"/>
              </a:rPr>
              <a:t>)</a:t>
            </a:r>
            <a:endParaRPr lang="it-IT" sz="1350">
              <a:solidFill>
                <a:schemeClr val="bg1"/>
              </a:solidFill>
              <a:latin typeface="Arial"/>
              <a:ea typeface="Arial"/>
              <a:cs typeface="Arial"/>
            </a:endParaRPr>
          </a:p>
          <a:p>
            <a:pPr>
              <a:lnSpc>
                <a:spcPts val="2428"/>
              </a:lnSpc>
              <a:defRPr/>
            </a:pPr>
            <a:endParaRPr lang="it-IT" sz="1350">
              <a:solidFill>
                <a:schemeClr val="bg1"/>
              </a:solidFill>
              <a:latin typeface="Arial"/>
              <a:ea typeface="Arial"/>
              <a:cs typeface="Arial"/>
            </a:endParaRPr>
          </a:p>
          <a:p>
            <a:pPr>
              <a:lnSpc>
                <a:spcPts val="2428"/>
              </a:lnSpc>
              <a:defRPr/>
            </a:pPr>
            <a:endParaRPr sz="1350">
              <a:solidFill>
                <a:schemeClr val="bg1"/>
              </a:solidFill>
              <a:latin typeface="Arial"/>
              <a:ea typeface="Arial"/>
              <a:cs typeface="Arial"/>
            </a:endParaRPr>
          </a:p>
          <a:p>
            <a:pPr marL="342900" indent="-342900">
              <a:lnSpc>
                <a:spcPts val="2428"/>
              </a:lnSpc>
              <a:buSzPct val="100000"/>
              <a:buChar char="•"/>
              <a:defRPr/>
            </a:pPr>
            <a:endParaRPr lang="en-US" sz="1350"/>
          </a:p>
        </p:txBody>
      </p:sp>
      <p:graphicFrame>
        <p:nvGraphicFramePr>
          <p:cNvPr id="1692543958" name=""/>
          <p:cNvGraphicFramePr>
            <a:graphicFrameLocks xmlns:a="http://schemas.openxmlformats.org/drawingml/2006/main"/>
          </p:cNvGraphicFramePr>
          <p:nvPr/>
        </p:nvGraphicFramePr>
        <p:xfrm rot="0">
          <a:off x="359618" y="1231461"/>
          <a:ext cx="8254999" cy="3419474"/>
        </p:xfrm>
        <a:graphic>
          <a:graphicData uri="http://schemas.openxmlformats.org/drawingml/2006/table">
            <a:tbl>
              <a:tblPr firstRow="1" firstCol="1" lastRow="0" lastCol="0" bandRow="1" bandCol="0">
                <a:tableStyleId>{5C22544A-7EE6-4342-B048-85BDC9FD1C3A}</a:tableStyleId>
              </a:tblPr>
              <a:tblGrid>
                <a:gridCol w="516706"/>
                <a:gridCol w="885782"/>
                <a:gridCol w="541311"/>
                <a:gridCol w="356773"/>
                <a:gridCol w="1820774"/>
                <a:gridCol w="529008"/>
                <a:gridCol w="1537816"/>
                <a:gridCol w="479798"/>
                <a:gridCol w="1587026"/>
              </a:tblGrid>
              <a:tr h="676275">
                <a:tc>
                  <a:txBody>
                    <a:bodyPr/>
                    <a:p>
                      <a:pPr>
                        <a:defRPr/>
                      </a:pPr>
                      <a:r>
                        <a:rPr sz="1100" b="1" i="0" u="none">
                          <a:solidFill>
                            <a:schemeClr val="bg1"/>
                          </a:solidFill>
                          <a:latin typeface="Calibri"/>
                          <a:ea typeface="Calibri"/>
                          <a:cs typeface="Calibri"/>
                        </a:rPr>
                        <a:t>Fee</a:t>
                      </a: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r>
                        <a:rPr sz="1100" b="1" i="0" u="none">
                          <a:solidFill>
                            <a:schemeClr val="bg1"/>
                          </a:solidFill>
                          <a:latin typeface="Calibri"/>
                          <a:ea typeface="Calibri"/>
                          <a:cs typeface="Calibri"/>
                        </a:rPr>
                        <a:t>Guadagno </a:t>
                      </a:r>
                      <a:br>
                        <a:rPr sz="1100" b="1" i="0" u="none">
                          <a:solidFill>
                            <a:schemeClr val="bg1"/>
                          </a:solidFill>
                          <a:latin typeface="Calibri"/>
                          <a:ea typeface="Calibri"/>
                          <a:cs typeface="Calibri"/>
                        </a:rPr>
                      </a:br>
                      <a:r>
                        <a:rPr sz="1100" b="1" i="0" u="none">
                          <a:solidFill>
                            <a:schemeClr val="bg1"/>
                          </a:solidFill>
                          <a:latin typeface="Calibri"/>
                          <a:ea typeface="Calibri"/>
                          <a:cs typeface="Calibri"/>
                        </a:rPr>
                        <a:t>Lordo</a:t>
                      </a: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r>
                        <a:rPr sz="1100" b="1" i="0" u="none">
                          <a:solidFill>
                            <a:schemeClr val="bg1"/>
                          </a:solidFill>
                          <a:latin typeface="Calibri"/>
                          <a:ea typeface="Calibri"/>
                          <a:cs typeface="Calibri"/>
                        </a:rPr>
                        <a:t>Tassa</a:t>
                      </a: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r>
                        <a:rPr sz="1100" b="1" i="0" u="none">
                          <a:solidFill>
                            <a:schemeClr val="bg1"/>
                          </a:solidFill>
                          <a:latin typeface="Calibri"/>
                          <a:ea typeface="Calibri"/>
                          <a:cs typeface="Calibri"/>
                        </a:rPr>
                        <a:t>Tassa Reale Acquisto + vendita</a:t>
                      </a:r>
                      <a:br>
                        <a:rPr sz="1100" b="1" i="0" u="none">
                          <a:solidFill>
                            <a:schemeClr val="bg1"/>
                          </a:solidFill>
                          <a:latin typeface="Calibri"/>
                          <a:ea typeface="Calibri"/>
                          <a:cs typeface="Calibri"/>
                        </a:rPr>
                      </a:br>
                      <a:r>
                        <a:rPr sz="1100" b="1" i="0" u="none">
                          <a:solidFill>
                            <a:schemeClr val="bg1"/>
                          </a:solidFill>
                          <a:latin typeface="Calibri"/>
                          <a:ea typeface="Calibri"/>
                          <a:cs typeface="Calibri"/>
                        </a:rPr>
                        <a:t>(fee in moneta ricevuta)</a:t>
                      </a: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r>
                        <a:rPr sz="1100" b="1" i="0" u="none">
                          <a:solidFill>
                            <a:schemeClr val="bg1"/>
                          </a:solidFill>
                          <a:latin typeface="Calibri"/>
                          <a:ea typeface="Calibri"/>
                          <a:cs typeface="Calibri"/>
                        </a:rPr>
                        <a:t>Tassa Reale Solo Vendita </a:t>
                      </a:r>
                      <a:br>
                        <a:rPr sz="1100" b="1" i="0" u="none">
                          <a:solidFill>
                            <a:schemeClr val="bg1"/>
                          </a:solidFill>
                          <a:latin typeface="Calibri"/>
                          <a:ea typeface="Calibri"/>
                          <a:cs typeface="Calibri"/>
                        </a:rPr>
                      </a:br>
                      <a:r>
                        <a:rPr sz="1100" b="1" i="0" u="none">
                          <a:solidFill>
                            <a:schemeClr val="bg1"/>
                          </a:solidFill>
                          <a:latin typeface="Calibri"/>
                          <a:ea typeface="Calibri"/>
                          <a:cs typeface="Calibri"/>
                        </a:rPr>
                        <a:t>(fee in moneta ricevuta)</a:t>
                      </a: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endParaRPr b="1">
                        <a:solidFill>
                          <a:schemeClr val="bg1"/>
                        </a:solidFill>
                      </a:endParaRPr>
                    </a:p>
                  </a:txBody>
                  <a:tcPr marL="0" marR="0" marT="0" marB="0" anchor="b">
                    <a:lnL w="12700" algn="ctr">
                      <a:noFill/>
                    </a:lnL>
                    <a:lnR w="12700" algn="ctr">
                      <a:noFill/>
                    </a:lnR>
                    <a:lnT w="12700" algn="ctr">
                      <a:noFill/>
                    </a:lnT>
                    <a:lnB w="12700" algn="ctr">
                      <a:noFill/>
                    </a:lnB>
                  </a:tcPr>
                </a:tc>
                <a:tc>
                  <a:txBody>
                    <a:bodyPr/>
                    <a:p>
                      <a:pPr>
                        <a:defRPr/>
                      </a:pPr>
                      <a:r>
                        <a:rPr sz="1100" b="1" i="0" u="none">
                          <a:solidFill>
                            <a:schemeClr val="bg1"/>
                          </a:solidFill>
                          <a:latin typeface="Calibri"/>
                          <a:ea typeface="Calibri"/>
                          <a:cs typeface="Calibri"/>
                        </a:rPr>
                        <a:t>Tassa Reale Solo Vendita </a:t>
                      </a:r>
                      <a:br>
                        <a:rPr sz="1100" b="1" i="0" u="none">
                          <a:solidFill>
                            <a:schemeClr val="bg1"/>
                          </a:solidFill>
                          <a:latin typeface="Calibri"/>
                          <a:ea typeface="Calibri"/>
                          <a:cs typeface="Calibri"/>
                        </a:rPr>
                      </a:br>
                      <a:r>
                        <a:rPr sz="1100" b="1" i="0" u="none">
                          <a:solidFill>
                            <a:schemeClr val="bg1"/>
                          </a:solidFill>
                          <a:latin typeface="Calibri"/>
                          <a:ea typeface="Calibri"/>
                          <a:cs typeface="Calibri"/>
                        </a:rPr>
                        <a:t>(fee in moneta venduta)</a:t>
                      </a:r>
                      <a:endParaRPr b="1">
                        <a:solidFill>
                          <a:schemeClr val="bg1"/>
                        </a:solidFill>
                      </a:endParaRPr>
                    </a:p>
                  </a:txBody>
                  <a:tcPr marL="0" marR="0" marT="0" marB="0" anchor="b">
                    <a:lnL w="12700" algn="ctr">
                      <a:noFill/>
                    </a:lnL>
                    <a:lnR w="12700" algn="ctr">
                      <a:noFill/>
                    </a:lnR>
                    <a:lnT w="12700" algn="ctr">
                      <a:noFill/>
                    </a:lnT>
                    <a:lnB w="12700" algn="ctr">
                      <a:noFill/>
                    </a:lnB>
                  </a:tcPr>
                </a:tc>
              </a:tr>
              <a:tr h="223725">
                <a:tc>
                  <a:txBody>
                    <a:bodyPr/>
                    <a:p>
                      <a:pPr algn="ctr">
                        <a:defRPr/>
                      </a:pPr>
                      <a:r>
                        <a:rPr lang="it-IT" sz="1100" b="0" i="0" u="none">
                          <a:solidFill>
                            <a:schemeClr val="bg1"/>
                          </a:solidFill>
                          <a:latin typeface="Calibri"/>
                          <a:ea typeface="Calibri"/>
                          <a:cs typeface="Calibri"/>
                        </a:rPr>
                        <a:t>10</a:t>
                      </a:r>
                      <a:r>
                        <a:rPr sz="1100" b="0" i="0" u="none">
                          <a:solidFill>
                            <a:schemeClr val="bg1"/>
                          </a:solidFill>
                          <a:latin typeface="Calibri"/>
                          <a:ea typeface="Calibri"/>
                          <a:cs typeface="Calibri"/>
                        </a:rPr>
                        <a:t>%</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47,90 %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41,25 %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37,13 %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33,03</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80%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33,12</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70%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33,13</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33,08</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33,05</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60%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33,09</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33,06</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50%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33,20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33,12</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33,08</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33,26</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33,11</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33,71</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33,37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33,33</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41,31</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36,71</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36,67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454054139" name="Text 0"/>
          <p:cNvSpPr/>
          <p:nvPr/>
        </p:nvSpPr>
        <p:spPr bwMode="auto">
          <a:xfrm>
            <a:off x="609599" y="607362"/>
            <a:ext cx="8083296" cy="411460"/>
          </a:xfrm>
          <a:prstGeom prst="rect">
            <a:avLst/>
          </a:prstGeom>
          <a:noFill/>
          <a:ln/>
        </p:spPr>
        <p:txBody>
          <a:bodyPr wrap="square" lIns="0" tIns="0" rIns="0" bIns="0" rtlCol="0" anchor="t"/>
          <a:lstStyle/>
          <a:p>
            <a:pPr marL="0" indent="0">
              <a:lnSpc>
                <a:spcPts val="3240"/>
              </a:lnSpc>
              <a:buNone/>
              <a:defRPr/>
            </a:pPr>
            <a:r>
              <a:rPr lang="en-US" sz="2700" b="1">
                <a:solidFill>
                  <a:srgbClr val="38BDF8"/>
                </a:solidFill>
                <a:latin typeface="Arial"/>
                <a:ea typeface="Arial"/>
                <a:cs typeface="Arial"/>
              </a:rPr>
              <a:t>Attenzione ai gridbot</a:t>
            </a:r>
            <a:endParaRPr lang="en-US" sz="2700"/>
          </a:p>
        </p:txBody>
      </p:sp>
      <p:sp>
        <p:nvSpPr>
          <p:cNvPr id="876481426" name="Text 1"/>
          <p:cNvSpPr/>
          <p:nvPr/>
        </p:nvSpPr>
        <p:spPr bwMode="auto">
          <a:xfrm flipH="0" flipV="0">
            <a:off x="841248" y="1291994"/>
            <a:ext cx="7619999" cy="3872672"/>
          </a:xfrm>
          <a:prstGeom prst="rect">
            <a:avLst/>
          </a:prstGeom>
          <a:noFill/>
          <a:ln/>
        </p:spPr>
        <p:txBody>
          <a:bodyPr wrap="square" lIns="0" tIns="0" rIns="0" bIns="0" rtlCol="0" anchor="t"/>
          <a:lstStyle/>
          <a:p>
            <a:pPr marL="342900" indent="-342900">
              <a:lnSpc>
                <a:spcPts val="2430"/>
              </a:lnSpc>
              <a:buSzPct val="100000"/>
              <a:buChar char="•"/>
              <a:defRPr/>
            </a:pPr>
            <a:r>
              <a:rPr lang="en-US" sz="1350">
                <a:solidFill>
                  <a:srgbClr val="CBD5E1"/>
                </a:solidFill>
                <a:latin typeface="Arial"/>
                <a:ea typeface="Arial"/>
                <a:cs typeface="Arial"/>
              </a:rPr>
              <a:t>Come abbiamo detto la plusvalenza si paga con le fee non dedotte quindi la tassazione reale è più alta di quella nominale perchè il guadagno reale è minore.</a:t>
            </a:r>
            <a:endParaRPr lang="en-US" sz="1350">
              <a:solidFill>
                <a:srgbClr val="CBD5E1"/>
              </a:solidFill>
              <a:latin typeface="Arial"/>
              <a:ea typeface="Arial"/>
              <a:cs typeface="Arial"/>
            </a:endParaRPr>
          </a:p>
          <a:p>
            <a:pPr>
              <a:lnSpc>
                <a:spcPts val="2429"/>
              </a:lnSpc>
              <a:defRPr/>
            </a:pP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I grid bot degli exchange generalmente (ad esempio Binance) danno il guadagno di griglia netto quindi già scorporato dalle fees, ma non è su quello che si pagano le plusvalenze bensì sul guadagno lordo.</a:t>
            </a:r>
            <a:endParaRPr lang="en-US" sz="1350">
              <a:solidFill>
                <a:srgbClr val="CBD5E1"/>
              </a:solidFill>
              <a:latin typeface="Arial"/>
              <a:ea typeface="Arial"/>
              <a:cs typeface="Arial"/>
            </a:endParaRPr>
          </a:p>
          <a:p>
            <a:pPr>
              <a:lnSpc>
                <a:spcPts val="2429"/>
              </a:lnSpc>
              <a:defRPr/>
            </a:pPr>
            <a:endParaRPr lang="en-US" sz="1350">
              <a:solidFill>
                <a:srgbClr val="CBD5E1"/>
              </a:solidFill>
              <a:latin typeface="Arial"/>
              <a:ea typeface="Arial"/>
              <a:cs typeface="Arial"/>
            </a:endParaRPr>
          </a:p>
          <a:p>
            <a:pPr marL="342900" indent="-342900">
              <a:lnSpc>
                <a:spcPts val="2429"/>
              </a:lnSpc>
              <a:buSzPct val="100000"/>
              <a:buChar char="•"/>
              <a:defRPr/>
            </a:pPr>
            <a:r>
              <a:rPr lang="en-US" sz="1350">
                <a:solidFill>
                  <a:srgbClr val="CBD5E1"/>
                </a:solidFill>
                <a:latin typeface="Arial"/>
                <a:ea typeface="Arial"/>
                <a:cs typeface="Arial"/>
              </a:rPr>
              <a:t>Questo significa che mano a mano che diminuisce il profitto di griglia aumenta la percentuale di tassazione reale sul provento mostrato.</a:t>
            </a:r>
            <a:endParaRPr lang="en-US" sz="1350">
              <a:solidFill>
                <a:srgbClr val="CBD5E1"/>
              </a:solidFill>
              <a:latin typeface="Arial"/>
              <a:ea typeface="Arial"/>
              <a:cs typeface="Arial"/>
            </a:endParaRPr>
          </a:p>
          <a:p>
            <a:pPr>
              <a:lnSpc>
                <a:spcPts val="2429"/>
              </a:lnSpc>
              <a:defRPr/>
            </a:pPr>
            <a:endParaRPr lang="en-US" sz="1350">
              <a:solidFill>
                <a:srgbClr val="CBD5E1"/>
              </a:solidFill>
              <a:latin typeface="Arial"/>
              <a:ea typeface="Arial"/>
              <a:cs typeface="Arial"/>
            </a:endParaRPr>
          </a:p>
          <a:p>
            <a:pPr marL="342900" indent="-342900">
              <a:lnSpc>
                <a:spcPts val="2429"/>
              </a:lnSpc>
              <a:buSzPct val="100000"/>
              <a:buChar char="•"/>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1395987191" name="Text 0"/>
          <p:cNvSpPr/>
          <p:nvPr/>
        </p:nvSpPr>
        <p:spPr bwMode="auto">
          <a:xfrm>
            <a:off x="609598" y="403869"/>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Attenzione ai gridbot</a:t>
            </a:r>
            <a:endParaRPr lang="en-US" sz="2700"/>
          </a:p>
        </p:txBody>
      </p:sp>
      <p:sp>
        <p:nvSpPr>
          <p:cNvPr id="958653793" name="Text 1"/>
          <p:cNvSpPr/>
          <p:nvPr/>
        </p:nvSpPr>
        <p:spPr bwMode="auto">
          <a:xfrm flipH="0" flipV="0">
            <a:off x="609598" y="932159"/>
            <a:ext cx="7619999" cy="3872672"/>
          </a:xfrm>
          <a:prstGeom prst="rect">
            <a:avLst/>
          </a:prstGeom>
          <a:noFill/>
          <a:ln/>
        </p:spPr>
        <p:txBody>
          <a:bodyPr wrap="square" lIns="0" tIns="0" rIns="0" bIns="0" rtlCol="0" anchor="t"/>
          <a:lstStyle/>
          <a:p>
            <a:pPr>
              <a:lnSpc>
                <a:spcPts val="2429"/>
              </a:lnSpc>
              <a:defRPr/>
            </a:pPr>
            <a:r>
              <a:rPr lang="en-US" sz="1350" b="0" i="0" u="none" strike="noStrike" cap="none" spc="0">
                <a:solidFill>
                  <a:srgbClr val="CBD5E1"/>
                </a:solidFill>
                <a:latin typeface="Arial"/>
                <a:ea typeface="Arial"/>
                <a:cs typeface="Arial"/>
              </a:rPr>
              <a:t>Quest</a:t>
            </a:r>
            <a:r>
              <a:rPr lang="it-IT" sz="1350" b="0" i="0" u="none" strike="noStrike" cap="none" spc="0">
                <a:solidFill>
                  <a:srgbClr val="CBD5E1"/>
                </a:solidFill>
                <a:latin typeface="Arial"/>
                <a:ea typeface="Arial"/>
                <a:cs typeface="Arial"/>
              </a:rPr>
              <a:t>e sono le</a:t>
            </a:r>
            <a:r>
              <a:rPr lang="en-US" sz="1350" b="0" i="0" u="none" strike="noStrike" cap="none" spc="0">
                <a:solidFill>
                  <a:srgbClr val="CBD5E1"/>
                </a:solidFill>
                <a:latin typeface="Arial"/>
                <a:ea typeface="Arial"/>
                <a:cs typeface="Arial"/>
              </a:rPr>
              <a:t> formul</a:t>
            </a:r>
            <a:r>
              <a:rPr lang="it-IT" sz="1350" b="0" i="0" u="none" strike="noStrike" cap="none" spc="0">
                <a:solidFill>
                  <a:srgbClr val="CBD5E1"/>
                </a:solidFill>
                <a:latin typeface="Arial"/>
                <a:ea typeface="Arial"/>
                <a:cs typeface="Arial"/>
              </a:rPr>
              <a:t>e</a:t>
            </a:r>
            <a:r>
              <a:rPr lang="en-US" sz="1350" b="0" i="0" u="none" strike="noStrike" cap="none" spc="0">
                <a:solidFill>
                  <a:srgbClr val="CBD5E1"/>
                </a:solidFill>
                <a:latin typeface="Arial"/>
                <a:ea typeface="Arial"/>
                <a:cs typeface="Arial"/>
              </a:rPr>
              <a:t> che ho ricavato per trovare l’incisione reale della tassazione sul provento netto ( </a:t>
            </a:r>
            <a:r>
              <a:rPr lang="en-US" sz="1100" b="0" i="0" u="none" strike="noStrike" cap="none" spc="0">
                <a:solidFill>
                  <a:schemeClr val="bg2"/>
                </a:solidFill>
                <a:latin typeface="Arial"/>
                <a:ea typeface="Arial"/>
                <a:cs typeface="Arial"/>
              </a:rPr>
              <a:t>t</a:t>
            </a:r>
            <a:r>
              <a:rPr lang="en-US" sz="1100" b="0" i="1" u="none" strike="noStrike" cap="none" spc="0">
                <a:solidFill>
                  <a:schemeClr val="bg2"/>
                </a:solidFill>
                <a:latin typeface="Arial"/>
                <a:ea typeface="Arial"/>
                <a:cs typeface="Arial"/>
              </a:rPr>
              <a:t>engono in considerazione che per completare una sezione della grigia ci deve essere un movimento di acquisto e uno di vendita</a:t>
            </a:r>
            <a:r>
              <a:rPr lang="en-US" sz="1350" b="0" i="0" u="none" strike="noStrike" cap="none" spc="0">
                <a:solidFill>
                  <a:srgbClr val="CBD5E1"/>
                </a:solidFill>
                <a:latin typeface="Arial"/>
                <a:ea typeface="Arial"/>
                <a:cs typeface="Arial"/>
              </a:rPr>
              <a:t> ):</a:t>
            </a:r>
            <a:endParaRPr lang="en-US" sz="1350">
              <a:solidFill>
                <a:srgbClr val="CBD5E1"/>
              </a:solidFill>
              <a:latin typeface="Arial"/>
              <a:ea typeface="Arial"/>
              <a:cs typeface="Arial"/>
            </a:endParaRPr>
          </a:p>
          <a:p>
            <a:pPr>
              <a:lnSpc>
                <a:spcPts val="2429"/>
              </a:lnSpc>
              <a:defRPr/>
            </a:pP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T=Tassazione Attuale (indicare 0,33 per il 33%)</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GN=Guadagno netto griglia (indicare 0,005 per</a:t>
            </a:r>
            <a:r>
              <a:rPr lang="en-US" sz="1350">
                <a:solidFill>
                  <a:srgbClr val="CBD5E1"/>
                </a:solidFill>
                <a:latin typeface="Arial"/>
                <a:ea typeface="Arial"/>
                <a:cs typeface="Arial"/>
              </a:rPr>
              <a:t> lo 0,5%)</a:t>
            </a:r>
            <a:r>
              <a:rPr lang="it-IT" sz="1350">
                <a:solidFill>
                  <a:srgbClr val="CBD5E1"/>
                </a:solidFill>
                <a:latin typeface="Arial"/>
                <a:ea typeface="Arial"/>
                <a:cs typeface="Arial"/>
              </a:rPr>
              <a:t> (</a:t>
            </a:r>
            <a:r>
              <a:rPr lang="it-IT" sz="1000">
                <a:solidFill>
                  <a:srgbClr val="CBD5E1"/>
                </a:solidFill>
                <a:latin typeface="Arial"/>
                <a:ea typeface="Arial"/>
                <a:cs typeface="Arial"/>
              </a:rPr>
              <a:t>Equivale ad esempio a quello scritto da Binance</a:t>
            </a:r>
            <a:r>
              <a:rPr lang="it-IT" sz="1350">
                <a:solidFill>
                  <a:srgbClr val="CBD5E1"/>
                </a:solidFill>
                <a:latin typeface="Arial"/>
                <a:ea typeface="Arial"/>
                <a:cs typeface="Arial"/>
              </a:rPr>
              <a:t>)</a:t>
            </a:r>
            <a:endParaRPr lang="en-US" sz="1350">
              <a:solidFill>
                <a:srgbClr val="CBD5E1"/>
              </a:solidFill>
              <a:latin typeface="Arial"/>
              <a:ea typeface="Arial"/>
              <a:cs typeface="Arial"/>
            </a:endParaRPr>
          </a:p>
          <a:p>
            <a:pPr>
              <a:lnSpc>
                <a:spcPts val="2429"/>
              </a:lnSpc>
              <a:defRPr/>
            </a:pPr>
            <a:r>
              <a:rPr lang="en-US" sz="1350">
                <a:solidFill>
                  <a:srgbClr val="CBD5E1"/>
                </a:solidFill>
                <a:latin typeface="Arial"/>
                <a:ea typeface="Arial"/>
                <a:cs typeface="Arial"/>
              </a:rPr>
              <a:t>Fee=Fee dell’exchange (indicare 0,001 per lo 0,1%)</a:t>
            </a:r>
            <a:endParaRPr lang="en-US" sz="1350">
              <a:solidFill>
                <a:srgbClr val="CBD5E1"/>
              </a:solidFill>
              <a:latin typeface="Arial"/>
              <a:ea typeface="Arial"/>
              <a:cs typeface="Arial"/>
            </a:endParaRPr>
          </a:p>
          <a:p>
            <a:pPr>
              <a:lnSpc>
                <a:spcPts val="2429"/>
              </a:lnSpc>
              <a:defRPr/>
            </a:pPr>
            <a:endParaRPr lang="en-US" sz="1350">
              <a:solidFill>
                <a:srgbClr val="CBD5E1"/>
              </a:solidFill>
              <a:latin typeface="Arial"/>
              <a:ea typeface="Arial"/>
              <a:cs typeface="Arial"/>
            </a:endParaRPr>
          </a:p>
          <a:p>
            <a:pPr>
              <a:lnSpc>
                <a:spcPts val="2429"/>
              </a:lnSpc>
              <a:defRPr/>
            </a:pP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sz="1400" u="none" strike="noStrike" cap="none" spc="0">
                          <a:solidFill>
                            <a:schemeClr val="bg1"/>
                          </a:solidFill>
                          <a:latin typeface="Cambria Math"/>
                          <a:ea typeface="Cambria Math"/>
                          <a:cs typeface="Cambria Math"/>
                        </a:rPr>
                        <m:t>% Tassazione Reale GridBot= </m:t>
                      </m:r>
                      <m:f>
                        <m:fPr>
                          <m:ctrlPr>
                            <a:rPr lang="en-US" sz="1400" b="0" i="1" u="none" strike="noStrike" cap="none" spc="0">
                              <a:solidFill>
                                <a:schemeClr val="bg1"/>
                              </a:solidFill>
                              <a:latin typeface="Cambria Math"/>
                              <a:ea typeface="Cambria Math"/>
                              <a:cs typeface="Cambria Math"/>
                            </a:rPr>
                          </m:ctrlPr>
                        </m:fPr>
                        <m:num>
                          <m:r>
                            <m:rPr>
                              <m:sty m:val="p"/>
                            </m:rPr>
                            <a:rPr lang="en-US" sz="1400" u="none" strike="noStrike" cap="none" spc="0">
                              <a:solidFill>
                                <a:schemeClr val="bg1"/>
                              </a:solidFill>
                              <a:latin typeface="Cambria Math"/>
                              <a:ea typeface="Cambria Math"/>
                              <a:cs typeface="Cambria Math"/>
                            </a:rPr>
                            <m:t>GN+Fee*(2-Fee)</m:t>
                          </m:r>
                        </m:num>
                        <m:den>
                          <m:r>
                            <m:rPr>
                              <m:sty m:val="p"/>
                            </m:rPr>
                            <a:rPr lang="en-US" sz="1400" u="none" strike="noStrike" cap="none" spc="0">
                              <a:solidFill>
                                <a:schemeClr val="bg1"/>
                              </a:solidFill>
                              <a:latin typeface="Cambria Math"/>
                              <a:ea typeface="Cambria Math"/>
                              <a:cs typeface="Cambria Math"/>
                            </a:rPr>
                            <m:t>GN*(1-Fee)</m:t>
                          </m:r>
                        </m:den>
                      </m:f>
                    </m:oMath>
                  </m:oMathPara>
                </a14:m>
              </mc:Choice>
              <mc:Fallback/>
            </mc:AlternateContent>
            <a:r>
              <a:rPr lang="it-IT" sz="1200">
                <a:solidFill>
                  <a:schemeClr val="bg1"/>
                </a:solidFill>
                <a:latin typeface="Arial"/>
                <a:ea typeface="Arial"/>
                <a:cs typeface="Arial"/>
              </a:rPr>
              <a:t> * T * 100</a:t>
            </a:r>
            <a:endParaRPr lang="it-IT" sz="1400">
              <a:solidFill>
                <a:schemeClr val="bg1"/>
              </a:solidFill>
              <a:latin typeface="Arial"/>
              <a:ea typeface="Arial"/>
              <a:cs typeface="Arial"/>
            </a:endParaRPr>
          </a:p>
          <a:p>
            <a:pPr>
              <a:lnSpc>
                <a:spcPts val="2428"/>
              </a:lnSpc>
              <a:defRPr/>
            </a:pPr>
            <a:endParaRPr lang="it-IT" sz="1400">
              <a:solidFill>
                <a:schemeClr val="bg1"/>
              </a:solidFill>
              <a:latin typeface="Arial"/>
              <a:ea typeface="Arial"/>
              <a:cs typeface="Arial"/>
            </a:endParaRPr>
          </a:p>
          <a:p>
            <a:pPr>
              <a:lnSpc>
                <a:spcPts val="2428"/>
              </a:lnSpc>
              <a:defRPr/>
            </a:pP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sz="1400" u="none" strike="noStrike" cap="none" spc="0">
                          <a:solidFill>
                            <a:schemeClr val="bg1"/>
                          </a:solidFill>
                          <a:latin typeface="Cambria Math"/>
                          <a:ea typeface="Cambria Math"/>
                          <a:cs typeface="Cambria Math"/>
                        </a:rPr>
                        <m:t>% Tassazione Reale GridBot (Scambi non rilevanti)= </m:t>
                      </m:r>
                      <m:f>
                        <m:fPr>
                          <m:ctrlPr>
                            <a:rPr lang="en-US" sz="1400" b="0" i="1" u="none" strike="noStrike" cap="none" spc="0">
                              <a:solidFill>
                                <a:schemeClr val="bg1"/>
                              </a:solidFill>
                              <a:latin typeface="Cambria Math"/>
                              <a:ea typeface="Cambria Math"/>
                              <a:cs typeface="Cambria Math"/>
                            </a:rPr>
                          </m:ctrlPr>
                        </m:fPr>
                        <m:num>
                          <m:r>
                            <m:rPr>
                              <m:sty m:val="p"/>
                            </m:rPr>
                            <a:rPr lang="en-US" sz="1400" u="none" strike="noStrike" cap="none" spc="0">
                              <a:solidFill>
                                <a:schemeClr val="bg1"/>
                              </a:solidFill>
                              <a:latin typeface="Cambria Math"/>
                              <a:ea typeface="Cambria Math"/>
                              <a:cs typeface="Cambria Math"/>
                            </a:rPr>
                            <m:t>GN+Fee</m:t>
                          </m:r>
                        </m:num>
                        <m:den>
                          <m:r>
                            <m:rPr>
                              <m:sty m:val="p"/>
                            </m:rPr>
                            <a:rPr lang="en-US" sz="1400" u="none" strike="noStrike" cap="none" spc="0">
                              <a:solidFill>
                                <a:schemeClr val="bg1"/>
                              </a:solidFill>
                              <a:latin typeface="Cambria Math"/>
                              <a:ea typeface="Cambria Math"/>
                              <a:cs typeface="Cambria Math"/>
                            </a:rPr>
                            <m:t>GN</m:t>
                          </m:r>
                        </m:den>
                      </m:f>
                    </m:oMath>
                  </m:oMathPara>
                </a14:m>
              </mc:Choice>
              <mc:Fallback/>
            </mc:AlternateContent>
            <a:r>
              <a:rPr lang="it-IT" sz="1200" b="0" i="0" u="none" strike="noStrike" cap="none" spc="0">
                <a:solidFill>
                  <a:schemeClr val="bg1"/>
                </a:solidFill>
                <a:latin typeface="Arial"/>
                <a:ea typeface="Arial"/>
                <a:cs typeface="Arial"/>
              </a:rPr>
              <a:t> * T * 100</a:t>
            </a:r>
            <a:endParaRPr sz="1350">
              <a:solidFill>
                <a:schemeClr val="bg1"/>
              </a:solidFill>
              <a:latin typeface="Arial"/>
              <a:ea typeface="Arial"/>
              <a:cs typeface="Arial"/>
            </a:endParaRPr>
          </a:p>
          <a:p>
            <a:pPr>
              <a:lnSpc>
                <a:spcPts val="2428"/>
              </a:lnSpc>
              <a:defRPr/>
            </a:pPr>
            <a:endParaRPr sz="1350">
              <a:solidFill>
                <a:schemeClr val="bg1"/>
              </a:solidFill>
            </a:endParaRPr>
          </a:p>
          <a:p>
            <a:pPr>
              <a:lnSpc>
                <a:spcPts val="2429"/>
              </a:lnSpc>
              <a:defRPr/>
            </a:pPr>
            <a:r>
              <a:rPr lang="it-IT" sz="1000" b="1" i="0" u="none" strike="noStrike" cap="none" spc="0">
                <a:solidFill>
                  <a:srgbClr val="CBD5E1"/>
                </a:solidFill>
                <a:latin typeface="Arial"/>
                <a:ea typeface="Arial"/>
                <a:cs typeface="Arial"/>
              </a:rPr>
              <a:t>*Attenzione formule autoprodotte soggette ad errori</a:t>
            </a:r>
            <a:endParaRPr sz="1350">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2100559582" name="Text 0"/>
          <p:cNvSpPr/>
          <p:nvPr/>
        </p:nvSpPr>
        <p:spPr bwMode="auto">
          <a:xfrm>
            <a:off x="609598" y="285196"/>
            <a:ext cx="8083296" cy="411458"/>
          </a:xfrm>
          <a:prstGeom prst="rect">
            <a:avLst/>
          </a:prstGeom>
          <a:noFill/>
          <a:ln/>
        </p:spPr>
        <p:txBody>
          <a:bodyPr wrap="square" lIns="0" tIns="0" rIns="0" bIns="0" rtlCol="0" anchor="t"/>
          <a:lstStyle/>
          <a:p>
            <a:pPr marL="0" indent="0">
              <a:lnSpc>
                <a:spcPts val="3238"/>
              </a:lnSpc>
              <a:buNone/>
              <a:defRPr/>
            </a:pPr>
            <a:r>
              <a:rPr lang="en-US" sz="2700" b="1">
                <a:solidFill>
                  <a:srgbClr val="38BDF8"/>
                </a:solidFill>
                <a:latin typeface="Arial"/>
                <a:ea typeface="Arial"/>
                <a:cs typeface="Arial"/>
              </a:rPr>
              <a:t>Attenzione ai gridbot</a:t>
            </a:r>
            <a:endParaRPr lang="en-US" sz="2700"/>
          </a:p>
        </p:txBody>
      </p:sp>
      <p:sp>
        <p:nvSpPr>
          <p:cNvPr id="623740741" name="Text 1"/>
          <p:cNvSpPr/>
          <p:nvPr/>
        </p:nvSpPr>
        <p:spPr bwMode="auto">
          <a:xfrm flipH="0" flipV="0">
            <a:off x="374666" y="819270"/>
            <a:ext cx="8318227" cy="4013785"/>
          </a:xfrm>
          <a:prstGeom prst="rect">
            <a:avLst/>
          </a:prstGeom>
          <a:noFill/>
          <a:ln/>
        </p:spPr>
        <p:txBody>
          <a:bodyPr wrap="square" lIns="0" tIns="0" rIns="0" bIns="0" rtlCol="0" anchor="t"/>
          <a:lstStyle/>
          <a:p>
            <a:pPr>
              <a:lnSpc>
                <a:spcPts val="2428"/>
              </a:lnSpc>
              <a:defRPr/>
            </a:pPr>
            <a:r>
              <a:rPr lang="en-US" sz="1350" b="0" i="0" u="none" strike="noStrike" cap="none" spc="0">
                <a:solidFill>
                  <a:srgbClr val="CBD5E1"/>
                </a:solidFill>
                <a:latin typeface="Arial"/>
                <a:ea typeface="Arial"/>
                <a:cs typeface="Arial"/>
              </a:rPr>
              <a:t>Questa una tabella utile per Binance quindi con fee allo 0,1% e tassazione al 33%</a:t>
            </a:r>
            <a:endParaRPr lang="en-US" sz="1350">
              <a:solidFill>
                <a:srgbClr val="CBD5E1"/>
              </a:solidFill>
              <a:latin typeface="Arial"/>
              <a:ea typeface="Arial"/>
              <a:cs typeface="Arial"/>
            </a:endParaRPr>
          </a:p>
          <a:p>
            <a:pPr>
              <a:lnSpc>
                <a:spcPts val="2428"/>
              </a:lnSpc>
              <a:defRPr/>
            </a:pPr>
            <a:endParaRPr lang="en-US" sz="1350">
              <a:solidFill>
                <a:srgbClr val="CBD5E1"/>
              </a:solidFill>
              <a:latin typeface="Arial"/>
              <a:ea typeface="Arial"/>
              <a:cs typeface="Arial"/>
            </a:endParaRPr>
          </a:p>
          <a:p>
            <a:pPr>
              <a:lnSpc>
                <a:spcPts val="2428"/>
              </a:lnSpc>
              <a:defRPr/>
            </a:pPr>
            <a:endParaRPr lang="en-US" sz="1350">
              <a:solidFill>
                <a:srgbClr val="CBD5E1"/>
              </a:solidFill>
              <a:latin typeface="Arial"/>
              <a:ea typeface="Arial"/>
              <a:cs typeface="Arial"/>
            </a:endParaRPr>
          </a:p>
          <a:p>
            <a:pPr>
              <a:lnSpc>
                <a:spcPts val="2428"/>
              </a:lnSpc>
              <a:defRPr/>
            </a:pPr>
            <a:endParaRPr sz="1350">
              <a:solidFill>
                <a:schemeClr val="bg1"/>
              </a:solidFill>
              <a:latin typeface="Arial"/>
              <a:ea typeface="Arial"/>
              <a:cs typeface="Arial"/>
            </a:endParaRPr>
          </a:p>
          <a:p>
            <a:pPr marL="342900" indent="-342900">
              <a:lnSpc>
                <a:spcPts val="2428"/>
              </a:lnSpc>
              <a:buSzPct val="100000"/>
              <a:buChar char="•"/>
              <a:defRPr/>
            </a:pPr>
            <a:endParaRPr lang="en-US" sz="1350"/>
          </a:p>
        </p:txBody>
      </p:sp>
      <p:graphicFrame>
        <p:nvGraphicFramePr>
          <p:cNvPr id="1065815111" name=""/>
          <p:cNvGraphicFramePr>
            <a:graphicFrameLocks xmlns:a="http://schemas.openxmlformats.org/drawingml/2006/main"/>
          </p:cNvGraphicFramePr>
          <p:nvPr/>
        </p:nvGraphicFramePr>
        <p:xfrm rot="0">
          <a:off x="1036333" y="1317977"/>
          <a:ext cx="4867274" cy="3314699"/>
        </p:xfrm>
        <a:graphic>
          <a:graphicData uri="http://schemas.openxmlformats.org/drawingml/2006/table">
            <a:tbl>
              <a:tblPr firstRow="1" firstCol="1" lastRow="0" lastCol="0" bandRow="1" bandCol="0">
                <a:tableStyleId>{5C22544A-7EE6-4342-B048-85BDC9FD1C3A}</a:tableStyleId>
              </a:tblPr>
              <a:tblGrid>
                <a:gridCol w="476249"/>
                <a:gridCol w="685800"/>
                <a:gridCol w="419099"/>
                <a:gridCol w="276224"/>
                <a:gridCol w="1409699"/>
                <a:gridCol w="409574"/>
                <a:gridCol w="1190624"/>
              </a:tblGrid>
              <a:tr h="571500">
                <a:tc>
                  <a:txBody>
                    <a:bodyPr/>
                    <a:p>
                      <a:pPr algn="ctr">
                        <a:defRPr/>
                      </a:pPr>
                      <a:r>
                        <a:rPr sz="1100" b="0" i="0" u="none">
                          <a:solidFill>
                            <a:schemeClr val="bg1"/>
                          </a:solidFill>
                          <a:latin typeface="Calibri"/>
                          <a:ea typeface="Calibri"/>
                          <a:cs typeface="Calibri"/>
                        </a:rPr>
                        <a:t>Fee</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chemeClr val="bg1"/>
                          </a:solidFill>
                          <a:latin typeface="Calibri"/>
                          <a:ea typeface="Calibri"/>
                          <a:cs typeface="Calibri"/>
                        </a:rPr>
                        <a:t>Guadagno</a:t>
                      </a:r>
                      <a:br>
                        <a:rPr sz="1100" b="0" i="0" u="none">
                          <a:solidFill>
                            <a:schemeClr val="bg1"/>
                          </a:solidFill>
                          <a:latin typeface="Calibri"/>
                          <a:ea typeface="Calibri"/>
                          <a:cs typeface="Calibri"/>
                        </a:rPr>
                      </a:br>
                      <a:r>
                        <a:rPr sz="1100" b="0" i="0" u="none">
                          <a:solidFill>
                            <a:schemeClr val="bg1"/>
                          </a:solidFill>
                          <a:latin typeface="Calibri"/>
                          <a:ea typeface="Calibri"/>
                          <a:cs typeface="Calibri"/>
                        </a:rPr>
                        <a:t>netto</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chemeClr val="bg1"/>
                          </a:solidFill>
                          <a:latin typeface="Calibri"/>
                          <a:ea typeface="Calibri"/>
                          <a:cs typeface="Calibri"/>
                        </a:rPr>
                        <a:t>Tassa</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lang="en-US" sz="1100" b="0" i="0" u="none" strike="noStrike" cap="none" spc="0">
                          <a:solidFill>
                            <a:schemeClr val="bg1"/>
                          </a:solidFill>
                          <a:latin typeface="Calibri"/>
                          <a:ea typeface="Calibri"/>
                          <a:cs typeface="Calibri"/>
                        </a:rPr>
                        <a:t>Tassa Reale</a:t>
                      </a:r>
                      <a:br>
                        <a:rPr lang="en-US" sz="1100" b="0" i="0" u="none" strike="noStrike" cap="none" spc="0">
                          <a:solidFill>
                            <a:schemeClr val="bg1"/>
                          </a:solidFill>
                          <a:latin typeface="Calibri"/>
                          <a:ea typeface="Calibri"/>
                          <a:cs typeface="Calibri"/>
                        </a:rPr>
                      </a:br>
                      <a:r>
                        <a:rPr lang="en-US" sz="1100" b="0" i="0" u="none" strike="noStrike" cap="none" spc="0">
                          <a:solidFill>
                            <a:schemeClr val="bg1"/>
                          </a:solidFill>
                          <a:latin typeface="Calibri"/>
                          <a:ea typeface="Calibri"/>
                          <a:cs typeface="Calibri"/>
                        </a:rPr>
                        <a:t>(movimento rilevante e fee in moneta finale )</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chemeClr val="bg1"/>
                          </a:solidFill>
                          <a:latin typeface="Calibri"/>
                          <a:ea typeface="Calibri"/>
                          <a:cs typeface="Calibri"/>
                        </a:rPr>
                        <a:t>Tassa Reale futura </a:t>
                      </a:r>
                      <a:br>
                        <a:rPr sz="1100" b="0" i="0" u="none">
                          <a:solidFill>
                            <a:schemeClr val="bg1"/>
                          </a:solidFill>
                          <a:latin typeface="Calibri"/>
                          <a:ea typeface="Calibri"/>
                          <a:cs typeface="Calibri"/>
                        </a:rPr>
                      </a:br>
                      <a:r>
                        <a:rPr sz="1100" b="0" i="0" u="none">
                          <a:solidFill>
                            <a:schemeClr val="bg1"/>
                          </a:solidFill>
                          <a:latin typeface="Calibri"/>
                          <a:ea typeface="Calibri"/>
                          <a:cs typeface="Calibri"/>
                        </a:rPr>
                        <a:t>(movimento non rilevante o fee in moneta iniziale o terza )</a:t>
                      </a:r>
                      <a:endParaRPr>
                        <a:solidFill>
                          <a:schemeClr val="bg1"/>
                        </a:solidFill>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10,00%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33,69 %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33,33</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5,00%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34,35</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33,66</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2,00%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36,33</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34,65</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1,00%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39,64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36,30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0,50%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46,24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39,60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0,40%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49,54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41,25</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0,30%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55,04</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44,00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0,20%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66,05</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49,50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0,10%</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99,07</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66,00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r h="180975">
                <a:tc>
                  <a:txBody>
                    <a:bodyPr/>
                    <a:p>
                      <a:pPr algn="ctr">
                        <a:defRPr/>
                      </a:pPr>
                      <a:r>
                        <a:rPr sz="1100" b="0" i="0" u="none">
                          <a:solidFill>
                            <a:schemeClr val="bg1"/>
                          </a:solidFill>
                          <a:latin typeface="Calibri"/>
                          <a:ea typeface="Calibri"/>
                          <a:cs typeface="Calibri"/>
                        </a:rPr>
                        <a:t>0,10%</a:t>
                      </a:r>
                      <a:endParaRPr>
                        <a:solidFill>
                          <a:schemeClr val="bg1"/>
                        </a:solidFill>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0,05%</a:t>
                      </a: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33%</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165,10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c>
                  <a:txBody>
                    <a:bodyPr/>
                    <a:p>
                      <a:pPr algn="ctr">
                        <a:defRPr/>
                      </a:pPr>
                      <a:endParaRPr/>
                    </a:p>
                  </a:txBody>
                  <a:tcPr marL="0" marR="0" marT="0" marB="0" anchor="b">
                    <a:lnL w="12700" algn="ctr">
                      <a:noFill/>
                    </a:lnL>
                    <a:lnR w="12700" algn="ctr">
                      <a:noFill/>
                    </a:lnR>
                    <a:lnT w="12700" algn="ctr">
                      <a:noFill/>
                    </a:lnT>
                    <a:lnB w="12700" algn="ctr">
                      <a:noFill/>
                    </a:lnB>
                  </a:tcPr>
                </a:tc>
                <a:tc>
                  <a:txBody>
                    <a:bodyPr/>
                    <a:p>
                      <a:pPr algn="ctr">
                        <a:defRPr/>
                      </a:pPr>
                      <a:r>
                        <a:rPr sz="1100" b="0" i="0" u="none">
                          <a:solidFill>
                            <a:srgbClr val="000000"/>
                          </a:solidFill>
                          <a:latin typeface="Calibri"/>
                          <a:ea typeface="Calibri"/>
                          <a:cs typeface="Calibri"/>
                        </a:rPr>
                        <a:t>99,00</a:t>
                      </a:r>
                      <a:r>
                        <a:rPr lang="en-US" sz="1100" b="0" i="0" u="none" strike="noStrike" cap="none" spc="0">
                          <a:solidFill>
                            <a:srgbClr val="000000"/>
                          </a:solidFill>
                          <a:latin typeface="Calibri"/>
                          <a:ea typeface="Calibri"/>
                          <a:cs typeface="Calibri"/>
                        </a:rPr>
                        <a:t> %</a:t>
                      </a:r>
                      <a:endParaRPr/>
                    </a:p>
                  </a:txBody>
                  <a:tcPr marL="0" marR="0" marT="0" marB="0" anchor="b">
                    <a:lnL w="12700" algn="ctr">
                      <a:noFill/>
                    </a:lnL>
                    <a:lnR w="12700" algn="ctr">
                      <a:noFill/>
                    </a:lnR>
                    <a:lnT w="12700" algn="ctr">
                      <a:noFill/>
                    </a:lnT>
                    <a:lnB w="12700" algn="ctr">
                      <a:no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1730811465" name="Text 0"/>
          <p:cNvSpPr/>
          <p:nvPr/>
        </p:nvSpPr>
        <p:spPr bwMode="auto">
          <a:xfrm>
            <a:off x="609598" y="403869"/>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Attenzione ai gridbot (Esempio Pratico 1)</a:t>
            </a:r>
            <a:r>
              <a:rPr lang="en-US" sz="2700"/>
              <a:t>  </a:t>
            </a:r>
            <a:endParaRPr lang="en-US" sz="2700"/>
          </a:p>
        </p:txBody>
      </p:sp>
      <p:sp>
        <p:nvSpPr>
          <p:cNvPr id="1427444617" name="Text 1"/>
          <p:cNvSpPr/>
          <p:nvPr/>
        </p:nvSpPr>
        <p:spPr bwMode="auto">
          <a:xfrm flipH="0" flipV="0">
            <a:off x="609598" y="1009770"/>
            <a:ext cx="7924798" cy="3872671"/>
          </a:xfrm>
          <a:prstGeom prst="rect">
            <a:avLst/>
          </a:prstGeom>
          <a:noFill/>
          <a:ln/>
        </p:spPr>
        <p:txBody>
          <a:bodyPr wrap="square" lIns="0" tIns="0" rIns="0" bIns="0" rtlCol="0" anchor="t"/>
          <a:lstStyle/>
          <a:p>
            <a:pPr>
              <a:lnSpc>
                <a:spcPts val="2429"/>
              </a:lnSpc>
              <a:defRPr/>
            </a:pPr>
            <a:r>
              <a:rPr lang="en-US" sz="1350" b="0" i="0" u="none" strike="noStrike" cap="none" spc="0">
                <a:solidFill>
                  <a:srgbClr val="CBD5E1"/>
                </a:solidFill>
                <a:latin typeface="Arial"/>
                <a:ea typeface="Arial"/>
                <a:cs typeface="Arial"/>
              </a:rPr>
              <a:t>Esempio su Binance (1 operazione completa su griglia, </a:t>
            </a:r>
            <a:r>
              <a:rPr lang="en-US" sz="1350" b="1" i="0" u="none" strike="noStrike" cap="none" spc="0">
                <a:solidFill>
                  <a:schemeClr val="bg1"/>
                </a:solidFill>
                <a:latin typeface="Arial"/>
                <a:ea typeface="Arial"/>
                <a:cs typeface="Arial"/>
              </a:rPr>
              <a:t>guadagno lordo 0,7%</a:t>
            </a:r>
            <a:r>
              <a:rPr lang="en-US" sz="1350" b="0" i="0" u="none" strike="noStrike" cap="none" spc="0">
                <a:solidFill>
                  <a:srgbClr val="CBD5E1"/>
                </a:solidFill>
                <a:latin typeface="Arial"/>
                <a:ea typeface="Arial"/>
                <a:cs typeface="Arial"/>
              </a:rPr>
              <a:t> che equivale ad un </a:t>
            </a:r>
            <a:r>
              <a:rPr lang="en-US" sz="1350" b="0" i="0" u="none" strike="noStrike" cap="none" spc="0">
                <a:solidFill>
                  <a:schemeClr val="bg1"/>
                </a:solidFill>
                <a:latin typeface="Arial"/>
                <a:ea typeface="Arial"/>
                <a:cs typeface="Arial"/>
              </a:rPr>
              <a:t>guadagno netto griglia di circa 0,5%</a:t>
            </a:r>
            <a:r>
              <a:rPr lang="en-US" sz="1350" b="0" i="0" u="none" strike="noStrike" cap="none" spc="0">
                <a:solidFill>
                  <a:srgbClr val="CBD5E1"/>
                </a:solidFill>
                <a:latin typeface="Arial"/>
                <a:ea typeface="Arial"/>
                <a:cs typeface="Arial"/>
              </a:rPr>
              <a:t>)</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Compro 100 €</a:t>
            </a:r>
            <a:r>
              <a:rPr lang="en-US" sz="1350" b="0" i="0" u="none" strike="noStrike" cap="none" spc="0">
                <a:solidFill>
                  <a:srgbClr val="CBD5E1"/>
                </a:solidFill>
                <a:latin typeface="Arial"/>
                <a:ea typeface="Arial"/>
                <a:cs typeface="Arial"/>
              </a:rPr>
              <a:t> di </a:t>
            </a:r>
            <a:r>
              <a:rPr lang="en-US" sz="1350" b="1" i="0" u="none" strike="noStrike" cap="none" spc="0">
                <a:solidFill>
                  <a:srgbClr val="CBD5E1"/>
                </a:solidFill>
                <a:latin typeface="Arial"/>
                <a:ea typeface="Arial"/>
                <a:cs typeface="Arial"/>
              </a:rPr>
              <a:t>BTC</a:t>
            </a:r>
            <a:r>
              <a:rPr lang="en-US" sz="1350" b="0" i="0" u="none" strike="noStrike" cap="none" spc="0">
                <a:solidFill>
                  <a:srgbClr val="CBD5E1"/>
                </a:solidFill>
                <a:latin typeface="Arial"/>
                <a:ea typeface="Arial"/>
                <a:cs typeface="Arial"/>
              </a:rPr>
              <a:t> quando stanno a </a:t>
            </a:r>
            <a:r>
              <a:rPr lang="en-US" sz="1350" b="1" i="0" u="none" strike="noStrike" cap="none" spc="0">
                <a:solidFill>
                  <a:srgbClr val="CBD5E1"/>
                </a:solidFill>
                <a:latin typeface="Arial"/>
                <a:ea typeface="Arial"/>
                <a:cs typeface="Arial"/>
              </a:rPr>
              <a:t>100.000</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Con le fee arrivano </a:t>
            </a:r>
            <a:r>
              <a:rPr lang="en-US" sz="1350" b="1" i="0" u="none" strike="noStrike" cap="none" spc="0">
                <a:solidFill>
                  <a:srgbClr val="CBD5E1"/>
                </a:solidFill>
                <a:latin typeface="Arial"/>
                <a:ea typeface="Arial"/>
                <a:cs typeface="Arial"/>
              </a:rPr>
              <a:t>0,00999</a:t>
            </a:r>
            <a:r>
              <a:rPr lang="en-US" sz="1350" b="0" i="0" u="none" strike="noStrike" cap="none" spc="0">
                <a:solidFill>
                  <a:srgbClr val="CBD5E1"/>
                </a:solidFill>
                <a:latin typeface="Arial"/>
                <a:ea typeface="Arial"/>
                <a:cs typeface="Arial"/>
              </a:rPr>
              <a:t> </a:t>
            </a:r>
            <a:r>
              <a:rPr lang="en-US" sz="1350" b="1" i="0" u="none" strike="noStrike" cap="none" spc="0">
                <a:solidFill>
                  <a:srgbClr val="CBD5E1"/>
                </a:solidFill>
                <a:latin typeface="Arial"/>
                <a:ea typeface="Arial"/>
                <a:cs typeface="Arial"/>
              </a:rPr>
              <a:t>BTC</a:t>
            </a:r>
            <a:r>
              <a:rPr lang="en-US" sz="1350" b="0" i="0" u="none" strike="noStrike" cap="none" spc="0">
                <a:solidFill>
                  <a:srgbClr val="CBD5E1"/>
                </a:solidFill>
                <a:latin typeface="Arial"/>
                <a:ea typeface="Arial"/>
                <a:cs typeface="Arial"/>
              </a:rPr>
              <a:t> caricati con costo di carico </a:t>
            </a:r>
            <a:r>
              <a:rPr lang="en-US" sz="1350" b="1" i="0" u="none" strike="noStrike" cap="none" spc="0">
                <a:solidFill>
                  <a:srgbClr val="CBD5E1"/>
                </a:solidFill>
                <a:latin typeface="Arial"/>
                <a:ea typeface="Arial"/>
                <a:cs typeface="Arial"/>
              </a:rPr>
              <a:t>99,9</a:t>
            </a:r>
            <a:r>
              <a:rPr lang="en-US" sz="1350" b="0" i="0" u="none" strike="noStrike" cap="none" spc="0">
                <a:solidFill>
                  <a:srgbClr val="CBD5E1"/>
                </a:solidFill>
                <a:latin typeface="Arial"/>
                <a:ea typeface="Arial"/>
                <a:cs typeface="Arial"/>
              </a:rPr>
              <a:t> (fee non deducibili)</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bg1"/>
                </a:solidFill>
                <a:latin typeface="Arial"/>
                <a:ea typeface="Arial"/>
                <a:cs typeface="Arial"/>
              </a:rPr>
              <a:t>Vendo BTC</a:t>
            </a:r>
            <a:r>
              <a:rPr lang="en-US" sz="1350" b="0" i="0" u="none" strike="noStrike" cap="none" spc="0">
                <a:solidFill>
                  <a:srgbClr val="CBD5E1"/>
                </a:solidFill>
                <a:latin typeface="Arial"/>
                <a:ea typeface="Arial"/>
                <a:cs typeface="Arial"/>
              </a:rPr>
              <a:t> quando sta a </a:t>
            </a:r>
            <a:r>
              <a:rPr lang="en-US" sz="1350" b="0" i="0" u="none" strike="noStrike" cap="none" spc="0">
                <a:solidFill>
                  <a:schemeClr val="bg1"/>
                </a:solidFill>
                <a:latin typeface="Arial"/>
                <a:ea typeface="Arial"/>
                <a:cs typeface="Arial"/>
              </a:rPr>
              <a:t>100.700 (+0,7%)</a:t>
            </a:r>
            <a:r>
              <a:rPr lang="en-US" sz="1350" b="0" i="0" u="none" strike="noStrike" cap="none" spc="0">
                <a:solidFill>
                  <a:srgbClr val="CBD5E1"/>
                </a:solidFill>
                <a:latin typeface="Arial"/>
                <a:ea typeface="Arial"/>
                <a:cs typeface="Arial"/>
              </a:rPr>
              <a:t> valore transazione lordo </a:t>
            </a:r>
            <a:r>
              <a:rPr lang="en-US" sz="1350" b="0" i="0" u="none" strike="noStrike" cap="none" spc="0">
                <a:solidFill>
                  <a:schemeClr val="bg1"/>
                </a:solidFill>
                <a:latin typeface="Arial"/>
                <a:ea typeface="Arial"/>
                <a:cs typeface="Arial"/>
              </a:rPr>
              <a:t>€100.60 </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Pluvalenza</a:t>
            </a:r>
            <a:r>
              <a:rPr lang="en-US" sz="1350" b="0" i="0" u="none" strike="noStrike" cap="none" spc="0">
                <a:solidFill>
                  <a:srgbClr val="CBD5E1"/>
                </a:solidFill>
                <a:latin typeface="Arial"/>
                <a:ea typeface="Arial"/>
                <a:cs typeface="Arial"/>
              </a:rPr>
              <a:t> = </a:t>
            </a:r>
            <a:r>
              <a:rPr lang="en-US" sz="1350" b="1" i="0" u="none" strike="noStrike" cap="none" spc="0">
                <a:solidFill>
                  <a:srgbClr val="CBD5E1"/>
                </a:solidFill>
                <a:latin typeface="Arial"/>
                <a:ea typeface="Arial"/>
                <a:cs typeface="Arial"/>
              </a:rPr>
              <a:t>€0,70</a:t>
            </a:r>
            <a:r>
              <a:rPr lang="en-US" sz="1350" b="0" i="0" u="none" strike="noStrike" cap="none" spc="0">
                <a:solidFill>
                  <a:srgbClr val="CBD5E1"/>
                </a:solidFill>
                <a:latin typeface="Times New Roman"/>
                <a:cs typeface="Times New Roman"/>
              </a:rPr>
              <a:t> (100,60-99,9)</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Tasse da pagare</a:t>
            </a:r>
            <a:r>
              <a:rPr lang="en-US" sz="1350" b="1" i="0" u="none" strike="noStrike" cap="none" spc="0">
                <a:solidFill>
                  <a:srgbClr val="CBD5E1"/>
                </a:solidFill>
                <a:latin typeface="Arial"/>
                <a:ea typeface="Arial"/>
                <a:cs typeface="Arial"/>
              </a:rPr>
              <a:t> = </a:t>
            </a:r>
            <a:r>
              <a:rPr lang="en-US" sz="1350" b="0" i="0" u="none" strike="noStrike" cap="none" spc="0">
                <a:solidFill>
                  <a:srgbClr val="CBD5E1"/>
                </a:solidFill>
                <a:latin typeface="Arial"/>
                <a:ea typeface="Arial"/>
                <a:cs typeface="Arial"/>
              </a:rPr>
              <a:t>€0,70 * 33% = </a:t>
            </a:r>
            <a:r>
              <a:rPr lang="en-US" sz="1350" b="1" i="0" u="none" strike="noStrike" cap="none" spc="0">
                <a:solidFill>
                  <a:schemeClr val="accent4">
                    <a:lumMod val="40000"/>
                    <a:lumOff val="60000"/>
                  </a:schemeClr>
                </a:solidFill>
                <a:latin typeface="Arial"/>
                <a:ea typeface="Arial"/>
                <a:cs typeface="Arial"/>
              </a:rPr>
              <a:t>€0.23</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Fee </a:t>
            </a:r>
            <a:r>
              <a:rPr lang="en-US" sz="1350" b="1" i="0" u="none" strike="noStrike" cap="none" spc="0">
                <a:solidFill>
                  <a:srgbClr val="CBD5E1"/>
                </a:solidFill>
                <a:latin typeface="Arial"/>
                <a:ea typeface="Arial"/>
                <a:cs typeface="Arial"/>
              </a:rPr>
              <a:t>= </a:t>
            </a:r>
            <a:r>
              <a:rPr lang="en-US" sz="1350" b="0" i="0" u="none" strike="noStrike" cap="none" spc="0">
                <a:solidFill>
                  <a:srgbClr val="CBD5E1"/>
                </a:solidFill>
                <a:latin typeface="Arial"/>
                <a:ea typeface="Arial"/>
                <a:cs typeface="Arial"/>
              </a:rPr>
              <a:t>100,60*0,1%</a:t>
            </a:r>
            <a:r>
              <a:rPr lang="en-US" sz="1350" b="1" i="0" u="none" strike="noStrike" cap="none" spc="0">
                <a:solidFill>
                  <a:srgbClr val="CBD5E1"/>
                </a:solidFill>
                <a:latin typeface="Arial"/>
                <a:ea typeface="Arial"/>
                <a:cs typeface="Arial"/>
              </a:rPr>
              <a:t> = </a:t>
            </a:r>
            <a:r>
              <a:rPr lang="en-US" sz="1350" b="1" i="0" u="none" strike="noStrike" cap="none" spc="0">
                <a:solidFill>
                  <a:schemeClr val="accent4">
                    <a:lumMod val="40000"/>
                    <a:lumOff val="60000"/>
                  </a:schemeClr>
                </a:solidFill>
                <a:latin typeface="Arial"/>
                <a:ea typeface="Arial"/>
                <a:cs typeface="Arial"/>
              </a:rPr>
              <a:t>€0,1</a:t>
            </a:r>
            <a:endParaRPr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Rimanenze </a:t>
            </a:r>
            <a:r>
              <a:rPr lang="en-US" sz="1350" b="1" i="0" u="none" strike="noStrike" cap="none" spc="0">
                <a:solidFill>
                  <a:srgbClr val="CBD5E1"/>
                </a:solidFill>
                <a:latin typeface="Arial"/>
                <a:ea typeface="Arial"/>
                <a:cs typeface="Arial"/>
              </a:rPr>
              <a:t>= </a:t>
            </a:r>
            <a:r>
              <a:rPr lang="en-US" sz="1350" b="1" i="0" u="none" strike="noStrike" cap="none" spc="0">
                <a:solidFill>
                  <a:schemeClr val="accent4">
                    <a:lumMod val="40000"/>
                    <a:lumOff val="60000"/>
                  </a:schemeClr>
                </a:solidFill>
                <a:latin typeface="Arial"/>
                <a:ea typeface="Arial"/>
                <a:cs typeface="Arial"/>
              </a:rPr>
              <a:t>100.50</a:t>
            </a:r>
            <a:r>
              <a:rPr lang="en-US" sz="1350" b="1" i="0" u="none" strike="noStrike" cap="none" spc="0">
                <a:solidFill>
                  <a:schemeClr val="accent4">
                    <a:lumMod val="40000"/>
                    <a:lumOff val="60000"/>
                  </a:schemeClr>
                </a:solidFill>
                <a:latin typeface="Arial"/>
                <a:ea typeface="Arial"/>
                <a:cs typeface="Arial"/>
              </a:rPr>
              <a:t> EUR</a:t>
            </a:r>
            <a:r>
              <a:rPr lang="en-US" sz="1350" b="0" i="0" u="none" strike="noStrike" cap="none" spc="0">
                <a:solidFill>
                  <a:srgbClr val="CBD5E1"/>
                </a:solidFill>
                <a:latin typeface="Arial"/>
                <a:ea typeface="Arial"/>
                <a:cs typeface="Arial"/>
              </a:rPr>
              <a:t> (100,60-0,1)</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Guadagno effettivo</a:t>
            </a:r>
            <a:r>
              <a:rPr lang="en-US" sz="1350" b="1" i="0" u="none" strike="noStrike" cap="none" spc="0">
                <a:solidFill>
                  <a:srgbClr val="CBD5E1"/>
                </a:solidFill>
                <a:latin typeface="Arial"/>
                <a:ea typeface="Arial"/>
                <a:cs typeface="Arial"/>
              </a:rPr>
              <a:t> : </a:t>
            </a:r>
            <a:r>
              <a:rPr lang="en-US" sz="1350" b="0" i="0" u="none" strike="noStrike" cap="none" spc="0">
                <a:solidFill>
                  <a:srgbClr val="CBD5E1"/>
                </a:solidFill>
                <a:latin typeface="Arial"/>
                <a:ea typeface="Arial"/>
                <a:cs typeface="Arial"/>
              </a:rPr>
              <a:t>€100.50 (Rimanenze) - €100 (Investimento iniziale) = </a:t>
            </a:r>
            <a:r>
              <a:rPr lang="en-US" sz="1350" b="1" i="0" u="none" strike="noStrike" cap="none" spc="0">
                <a:solidFill>
                  <a:schemeClr val="accent4">
                    <a:lumMod val="40000"/>
                    <a:lumOff val="60000"/>
                  </a:schemeClr>
                </a:solidFill>
                <a:latin typeface="Arial"/>
                <a:ea typeface="Arial"/>
                <a:cs typeface="Arial"/>
              </a:rPr>
              <a:t>0,50€</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accent4">
                    <a:lumMod val="40000"/>
                    <a:lumOff val="60000"/>
                  </a:schemeClr>
                </a:solidFill>
                <a:latin typeface="Arial"/>
                <a:ea typeface="Arial"/>
                <a:cs typeface="Arial"/>
              </a:rPr>
              <a:t>% Tasse effettive pagate</a:t>
            </a:r>
            <a:r>
              <a:rPr lang="en-US" sz="1350" b="0" i="0" u="none" strike="noStrike" cap="none" spc="0">
                <a:solidFill>
                  <a:srgbClr val="CBD5E1"/>
                </a:solidFill>
                <a:latin typeface="Arial"/>
                <a:ea typeface="Arial"/>
                <a:cs typeface="Arial"/>
              </a:rPr>
              <a:t> -&gt; 0.23/0.50*100 = </a:t>
            </a:r>
            <a:r>
              <a:rPr lang="en-US" sz="1350" b="0" i="0" u="none" strike="noStrike" cap="none" spc="0">
                <a:solidFill>
                  <a:schemeClr val="accent4">
                    <a:lumMod val="40000"/>
                    <a:lumOff val="60000"/>
                  </a:schemeClr>
                </a:solidFill>
                <a:latin typeface="Arial"/>
                <a:ea typeface="Arial"/>
                <a:cs typeface="Arial"/>
              </a:rPr>
              <a:t>46%</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Guadagno rimanente dopo tassazione -&gt; €0.27</a:t>
            </a:r>
            <a:endParaRPr lang="en-US" sz="1350" b="0" i="0" u="none" strike="noStrike" cap="none" spc="0">
              <a:solidFill>
                <a:srgbClr val="CBD5E1"/>
              </a:solidFill>
              <a:latin typeface="Times New Roman"/>
              <a:cs typeface="Times New Roman"/>
            </a:endParaRPr>
          </a:p>
          <a:p>
            <a:pPr>
              <a:lnSpc>
                <a:spcPts val="2429"/>
              </a:lnSpc>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0F172A"/>
        </a:solidFill>
      </p:bgPr>
    </p:bg>
    <p:spTree>
      <p:nvGrpSpPr>
        <p:cNvPr id="1" name=""/>
        <p:cNvGrpSpPr/>
        <p:nvPr/>
      </p:nvGrpSpPr>
      <p:grpSpPr bwMode="auto">
        <a:xfrm>
          <a:off x="0" y="0"/>
          <a:ext cx="0" cy="0"/>
          <a:chOff x="0" y="0"/>
          <a:chExt cx="0" cy="0"/>
        </a:xfrm>
      </p:grpSpPr>
      <p:sp>
        <p:nvSpPr>
          <p:cNvPr id="742401559" name="Text 0"/>
          <p:cNvSpPr/>
          <p:nvPr/>
        </p:nvSpPr>
        <p:spPr bwMode="auto">
          <a:xfrm>
            <a:off x="609598" y="334432"/>
            <a:ext cx="8083296" cy="411459"/>
          </a:xfrm>
          <a:prstGeom prst="rect">
            <a:avLst/>
          </a:prstGeom>
          <a:noFill/>
          <a:ln/>
        </p:spPr>
        <p:txBody>
          <a:bodyPr wrap="square" lIns="0" tIns="0" rIns="0" bIns="0" rtlCol="0" anchor="t"/>
          <a:lstStyle/>
          <a:p>
            <a:pPr marL="0" indent="0">
              <a:lnSpc>
                <a:spcPts val="3239"/>
              </a:lnSpc>
              <a:buNone/>
              <a:defRPr/>
            </a:pPr>
            <a:r>
              <a:rPr lang="en-US" sz="2700" b="1">
                <a:solidFill>
                  <a:srgbClr val="38BDF8"/>
                </a:solidFill>
                <a:latin typeface="Arial"/>
                <a:ea typeface="Arial"/>
                <a:cs typeface="Arial"/>
              </a:rPr>
              <a:t>Attenzione ai gridbot (Esempio Pratico 2)</a:t>
            </a:r>
            <a:r>
              <a:rPr lang="en-US" sz="2700"/>
              <a:t>  </a:t>
            </a:r>
            <a:endParaRPr lang="en-US" sz="2700"/>
          </a:p>
        </p:txBody>
      </p:sp>
      <p:sp>
        <p:nvSpPr>
          <p:cNvPr id="1239946318" name="Text 1"/>
          <p:cNvSpPr/>
          <p:nvPr/>
        </p:nvSpPr>
        <p:spPr bwMode="auto">
          <a:xfrm flipH="0" flipV="0">
            <a:off x="609598" y="967437"/>
            <a:ext cx="7619999" cy="3872672"/>
          </a:xfrm>
          <a:prstGeom prst="rect">
            <a:avLst/>
          </a:prstGeom>
          <a:noFill/>
          <a:ln/>
        </p:spPr>
        <p:txBody>
          <a:bodyPr wrap="square" lIns="0" tIns="0" rIns="0" bIns="0" rtlCol="0" anchor="t"/>
          <a:lstStyle/>
          <a:p>
            <a:pPr>
              <a:lnSpc>
                <a:spcPts val="2429"/>
              </a:lnSpc>
              <a:defRPr/>
            </a:pPr>
            <a:r>
              <a:rPr lang="en-US" sz="1350" b="0" i="0" u="none" strike="noStrike" cap="none" spc="0">
                <a:solidFill>
                  <a:srgbClr val="CBD5E1"/>
                </a:solidFill>
                <a:latin typeface="Arial"/>
                <a:ea typeface="Arial"/>
                <a:cs typeface="Arial"/>
              </a:rPr>
              <a:t>Esempio su Binance (1 operazione completa su griglia, </a:t>
            </a:r>
            <a:r>
              <a:rPr lang="en-US" sz="1350" b="1" i="0" u="none" strike="noStrike" cap="none" spc="0">
                <a:solidFill>
                  <a:schemeClr val="bg1"/>
                </a:solidFill>
                <a:latin typeface="Arial"/>
                <a:ea typeface="Arial"/>
                <a:cs typeface="Arial"/>
              </a:rPr>
              <a:t>guadagno lordo 0,3%</a:t>
            </a:r>
            <a:r>
              <a:rPr lang="en-US" sz="1350" b="0" i="0" u="none" strike="noStrike" cap="none" spc="0">
                <a:solidFill>
                  <a:srgbClr val="CBD5E1"/>
                </a:solidFill>
                <a:latin typeface="Arial"/>
                <a:ea typeface="Arial"/>
                <a:cs typeface="Arial"/>
              </a:rPr>
              <a:t> che equivale ad un </a:t>
            </a:r>
            <a:r>
              <a:rPr lang="en-US" sz="1350" b="0" i="0" u="none" strike="noStrike" cap="none" spc="0">
                <a:solidFill>
                  <a:schemeClr val="bg1"/>
                </a:solidFill>
                <a:latin typeface="Arial"/>
                <a:ea typeface="Arial"/>
                <a:cs typeface="Arial"/>
              </a:rPr>
              <a:t>guadagno netto griglia di circa 0,1%</a:t>
            </a:r>
            <a:r>
              <a:rPr lang="en-US" sz="1350" b="0" i="0" u="none" strike="noStrike" cap="none" spc="0">
                <a:solidFill>
                  <a:srgbClr val="CBD5E1"/>
                </a:solidFill>
                <a:latin typeface="Arial"/>
                <a:ea typeface="Arial"/>
                <a:cs typeface="Arial"/>
              </a:rPr>
              <a:t>)</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rgbClr val="CBD5E1"/>
                </a:solidFill>
                <a:latin typeface="Arial"/>
                <a:ea typeface="Arial"/>
                <a:cs typeface="Arial"/>
              </a:rPr>
              <a:t>Compro </a:t>
            </a:r>
            <a:r>
              <a:rPr lang="en-US" sz="1350" b="1" i="0" u="none" strike="noStrike" cap="none" spc="0">
                <a:solidFill>
                  <a:srgbClr val="CBD5E1"/>
                </a:solidFill>
                <a:latin typeface="Arial"/>
                <a:ea typeface="Arial"/>
                <a:cs typeface="Arial"/>
              </a:rPr>
              <a:t>100 Euro di BTC</a:t>
            </a:r>
            <a:r>
              <a:rPr lang="en-US" sz="1350" b="0" i="0" u="none" strike="noStrike" cap="none" spc="0">
                <a:solidFill>
                  <a:srgbClr val="CBD5E1"/>
                </a:solidFill>
                <a:latin typeface="Arial"/>
                <a:ea typeface="Arial"/>
                <a:cs typeface="Arial"/>
              </a:rPr>
              <a:t> quando stanno a </a:t>
            </a:r>
            <a:r>
              <a:rPr lang="en-US" sz="1350" b="1" i="0" u="none" strike="noStrike" cap="none" spc="0">
                <a:solidFill>
                  <a:srgbClr val="CBD5E1"/>
                </a:solidFill>
                <a:latin typeface="Arial"/>
                <a:ea typeface="Arial"/>
                <a:cs typeface="Arial"/>
              </a:rPr>
              <a:t>100.000</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rgbClr val="CBD5E1"/>
                </a:solidFill>
                <a:latin typeface="Arial"/>
                <a:ea typeface="Arial"/>
                <a:cs typeface="Arial"/>
              </a:rPr>
              <a:t>Con le fee arrivano </a:t>
            </a:r>
            <a:r>
              <a:rPr lang="en-US" sz="1350" b="1" i="0" u="none" strike="noStrike" cap="none" spc="0">
                <a:solidFill>
                  <a:srgbClr val="CBD5E1"/>
                </a:solidFill>
                <a:latin typeface="Arial"/>
                <a:ea typeface="Arial"/>
                <a:cs typeface="Arial"/>
              </a:rPr>
              <a:t>0,00999</a:t>
            </a:r>
            <a:r>
              <a:rPr lang="en-US" sz="1350" b="1" i="0" u="none" strike="noStrike" cap="none" spc="0">
                <a:solidFill>
                  <a:srgbClr val="CBD5E1"/>
                </a:solidFill>
                <a:latin typeface="Arial"/>
                <a:ea typeface="Arial"/>
                <a:cs typeface="Arial"/>
              </a:rPr>
              <a:t> BTC </a:t>
            </a:r>
            <a:r>
              <a:rPr lang="en-US" sz="1350" b="0" i="0" u="none" strike="noStrike" cap="none" spc="0">
                <a:solidFill>
                  <a:srgbClr val="CBD5E1"/>
                </a:solidFill>
                <a:latin typeface="Arial"/>
                <a:ea typeface="Arial"/>
                <a:cs typeface="Arial"/>
              </a:rPr>
              <a:t>caricati con costo di carico €99,9 (fee non deducibili)</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bg1"/>
                </a:solidFill>
                <a:latin typeface="Arial"/>
                <a:ea typeface="Arial"/>
                <a:cs typeface="Arial"/>
              </a:rPr>
              <a:t>Vendo BTC</a:t>
            </a:r>
            <a:r>
              <a:rPr lang="en-US" sz="1350" b="0" i="0" u="none" strike="noStrike" cap="none" spc="0">
                <a:solidFill>
                  <a:srgbClr val="CBD5E1"/>
                </a:solidFill>
                <a:latin typeface="Arial"/>
                <a:ea typeface="Arial"/>
                <a:cs typeface="Arial"/>
              </a:rPr>
              <a:t> quando sta a </a:t>
            </a:r>
            <a:r>
              <a:rPr lang="en-US" sz="1350" b="1" i="0" u="none" strike="noStrike" cap="none" spc="0">
                <a:solidFill>
                  <a:srgbClr val="CBD5E1"/>
                </a:solidFill>
                <a:latin typeface="Arial"/>
                <a:ea typeface="Arial"/>
                <a:cs typeface="Arial"/>
              </a:rPr>
              <a:t>100.300</a:t>
            </a:r>
            <a:r>
              <a:rPr lang="en-US" sz="1350" b="0" i="0" u="none" strike="noStrike" cap="none" spc="0">
                <a:solidFill>
                  <a:srgbClr val="CBD5E1"/>
                </a:solidFill>
                <a:latin typeface="Arial"/>
                <a:ea typeface="Arial"/>
                <a:cs typeface="Arial"/>
              </a:rPr>
              <a:t> (+0,3%)</a:t>
            </a:r>
            <a:r>
              <a:rPr lang="en-US" sz="1350" b="0" i="0" u="none" strike="noStrike" cap="none" spc="0">
                <a:solidFill>
                  <a:srgbClr val="CBD5E1"/>
                </a:solidFill>
                <a:latin typeface="Arial"/>
                <a:ea typeface="Arial"/>
                <a:cs typeface="Arial"/>
              </a:rPr>
              <a:t> </a:t>
            </a:r>
            <a:r>
              <a:rPr lang="en-US" sz="1350" b="1" i="0" u="none" strike="noStrike" cap="none" spc="0">
                <a:solidFill>
                  <a:schemeClr val="accent4">
                    <a:lumMod val="40000"/>
                    <a:lumOff val="60000"/>
                  </a:schemeClr>
                </a:solidFill>
                <a:latin typeface="Arial"/>
                <a:ea typeface="Arial"/>
                <a:cs typeface="Arial"/>
              </a:rPr>
              <a:t>valore transazione lordo €100.2</a:t>
            </a:r>
            <a:r>
              <a:rPr lang="en-US" sz="1350" b="0" i="0" u="none" strike="noStrike" cap="none" spc="0">
                <a:solidFill>
                  <a:srgbClr val="CBD5E1"/>
                </a:solidFill>
                <a:latin typeface="Arial"/>
                <a:ea typeface="Arial"/>
                <a:cs typeface="Arial"/>
              </a:rPr>
              <a:t> </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Pluvalenza = €0,30</a:t>
            </a:r>
            <a:r>
              <a:rPr lang="en-US" sz="1350" b="0" i="0" u="none" strike="noStrike" cap="none" spc="0">
                <a:solidFill>
                  <a:srgbClr val="CBD5E1"/>
                </a:solidFill>
                <a:latin typeface="Arial"/>
                <a:ea typeface="Arial"/>
                <a:cs typeface="Arial"/>
              </a:rPr>
              <a:t> (100,2-99,9)</a:t>
            </a:r>
            <a:endParaRPr sz="1350" b="0" i="0" u="none" strike="noStrike" cap="none" spc="0">
              <a:solidFill>
                <a:srgbClr val="CBD5E1"/>
              </a:solidFill>
              <a:latin typeface="Arial"/>
              <a:cs typeface="Arial"/>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Tasse da pagare =</a:t>
            </a:r>
            <a:r>
              <a:rPr lang="en-US" sz="1350" b="0" i="0" u="none" strike="noStrike" cap="none" spc="0">
                <a:solidFill>
                  <a:srgbClr val="CBD5E1"/>
                </a:solidFill>
                <a:latin typeface="Arial"/>
                <a:ea typeface="Arial"/>
                <a:cs typeface="Arial"/>
              </a:rPr>
              <a:t> €0,30 * 33% = </a:t>
            </a:r>
            <a:r>
              <a:rPr lang="en-US" sz="1350" b="1" i="0" u="none" strike="noStrike" cap="none" spc="0">
                <a:solidFill>
                  <a:schemeClr val="accent4">
                    <a:lumMod val="40000"/>
                    <a:lumOff val="60000"/>
                  </a:schemeClr>
                </a:solidFill>
                <a:latin typeface="Arial"/>
                <a:ea typeface="Arial"/>
                <a:cs typeface="Arial"/>
              </a:rPr>
              <a:t>€0.1</a:t>
            </a:r>
            <a:endParaRPr lang="en-US" sz="1350" b="1" i="0" u="none" strike="noStrike" cap="none" spc="0">
              <a:solidFill>
                <a:srgbClr val="CBD5E1"/>
              </a:solidFill>
              <a:latin typeface="Arial"/>
              <a:ea typeface="Arial"/>
              <a:cs typeface="Arial"/>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Fee </a:t>
            </a:r>
            <a:r>
              <a:rPr lang="en-US" sz="1350" b="1" i="0" u="none" strike="noStrike" cap="none" spc="0">
                <a:solidFill>
                  <a:srgbClr val="CBD5E1"/>
                </a:solidFill>
                <a:latin typeface="Arial"/>
                <a:ea typeface="Arial"/>
                <a:cs typeface="Arial"/>
              </a:rPr>
              <a:t>= </a:t>
            </a:r>
            <a:r>
              <a:rPr lang="en-US" sz="1350" b="0" i="0" u="none" strike="noStrike" cap="none" spc="0">
                <a:solidFill>
                  <a:srgbClr val="CBD5E1"/>
                </a:solidFill>
                <a:latin typeface="Arial"/>
                <a:ea typeface="Arial"/>
                <a:cs typeface="Arial"/>
              </a:rPr>
              <a:t>100,20*0,1%</a:t>
            </a:r>
            <a:r>
              <a:rPr lang="en-US" sz="1350" b="1" i="0" u="none" strike="noStrike" cap="none" spc="0">
                <a:solidFill>
                  <a:srgbClr val="CBD5E1"/>
                </a:solidFill>
                <a:latin typeface="Arial"/>
                <a:ea typeface="Arial"/>
                <a:cs typeface="Arial"/>
              </a:rPr>
              <a:t> =</a:t>
            </a:r>
            <a:r>
              <a:rPr lang="en-US" sz="1350" b="1" i="0" u="none" strike="noStrike" cap="none" spc="0">
                <a:solidFill>
                  <a:schemeClr val="accent4">
                    <a:lumMod val="40000"/>
                    <a:lumOff val="60000"/>
                  </a:schemeClr>
                </a:solidFill>
                <a:latin typeface="Arial"/>
                <a:ea typeface="Arial"/>
                <a:cs typeface="Arial"/>
              </a:rPr>
              <a:t> €0,1</a:t>
            </a:r>
            <a:endParaRPr lang="en-US" sz="1350" b="0" i="0" u="none" strike="noStrike" cap="none" spc="0">
              <a:solidFill>
                <a:srgbClr val="CBD5E1"/>
              </a:solidFill>
              <a:latin typeface="Times New Roman"/>
              <a:cs typeface="Times New Roman"/>
            </a:endParaRPr>
          </a:p>
          <a:p>
            <a:pPr>
              <a:lnSpc>
                <a:spcPts val="2429"/>
              </a:lnSpc>
              <a:defRPr/>
            </a:pPr>
            <a:r>
              <a:rPr lang="en-US" sz="1350" b="1" i="0" u="none" strike="noStrike" cap="none" spc="0">
                <a:solidFill>
                  <a:schemeClr val="accent4">
                    <a:lumMod val="40000"/>
                    <a:lumOff val="60000"/>
                  </a:schemeClr>
                </a:solidFill>
                <a:latin typeface="Arial"/>
                <a:ea typeface="Arial"/>
                <a:cs typeface="Arial"/>
              </a:rPr>
              <a:t>Rimanenze </a:t>
            </a:r>
            <a:r>
              <a:rPr lang="en-US" sz="1350" b="1" i="0" u="none" strike="noStrike" cap="none" spc="0">
                <a:solidFill>
                  <a:srgbClr val="CBD5E1"/>
                </a:solidFill>
                <a:latin typeface="Arial"/>
                <a:ea typeface="Arial"/>
                <a:cs typeface="Arial"/>
              </a:rPr>
              <a:t>= </a:t>
            </a:r>
            <a:r>
              <a:rPr lang="en-US" sz="1350" b="1" i="0" u="none" strike="noStrike" cap="none" spc="0">
                <a:solidFill>
                  <a:schemeClr val="accent4">
                    <a:lumMod val="40000"/>
                    <a:lumOff val="60000"/>
                  </a:schemeClr>
                </a:solidFill>
                <a:latin typeface="Arial"/>
                <a:ea typeface="Arial"/>
                <a:cs typeface="Arial"/>
              </a:rPr>
              <a:t>100.10</a:t>
            </a:r>
            <a:r>
              <a:rPr lang="en-US" sz="1350" b="1" i="0" u="none" strike="noStrike" cap="none" spc="0">
                <a:solidFill>
                  <a:schemeClr val="accent4">
                    <a:lumMod val="40000"/>
                    <a:lumOff val="60000"/>
                  </a:schemeClr>
                </a:solidFill>
                <a:latin typeface="Arial"/>
                <a:ea typeface="Arial"/>
                <a:cs typeface="Arial"/>
              </a:rPr>
              <a:t> EUR</a:t>
            </a:r>
            <a:r>
              <a:rPr lang="en-US" sz="1350" b="0" i="0" u="none" strike="noStrike" cap="none" spc="0">
                <a:solidFill>
                  <a:srgbClr val="CBD5E1"/>
                </a:solidFill>
                <a:latin typeface="Arial"/>
                <a:ea typeface="Arial"/>
                <a:cs typeface="Arial"/>
              </a:rPr>
              <a:t> (100,20-0.1%)</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accent4">
                    <a:lumMod val="40000"/>
                    <a:lumOff val="60000"/>
                  </a:schemeClr>
                </a:solidFill>
                <a:latin typeface="Arial"/>
                <a:ea typeface="Arial"/>
                <a:cs typeface="Arial"/>
              </a:rPr>
              <a:t>Guadagno effettivo </a:t>
            </a:r>
            <a:r>
              <a:rPr lang="en-US" sz="1350" b="0" i="0" u="none" strike="noStrike" cap="none" spc="0">
                <a:solidFill>
                  <a:srgbClr val="CBD5E1"/>
                </a:solidFill>
                <a:latin typeface="Arial"/>
                <a:ea typeface="Arial"/>
                <a:cs typeface="Arial"/>
              </a:rPr>
              <a:t>: €100.10 (Rimanenze) - €100 (Investimento iniziale) = </a:t>
            </a:r>
            <a:r>
              <a:rPr lang="en-US" sz="1350" b="0" i="0" u="none" strike="noStrike" cap="none" spc="0">
                <a:solidFill>
                  <a:schemeClr val="accent4">
                    <a:lumMod val="40000"/>
                    <a:lumOff val="60000"/>
                  </a:schemeClr>
                </a:solidFill>
                <a:latin typeface="Arial"/>
                <a:ea typeface="Arial"/>
                <a:cs typeface="Arial"/>
              </a:rPr>
              <a:t>0,10€</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accent4">
                    <a:lumMod val="40000"/>
                    <a:lumOff val="60000"/>
                  </a:schemeClr>
                </a:solidFill>
                <a:latin typeface="Arial"/>
                <a:ea typeface="Arial"/>
                <a:cs typeface="Arial"/>
              </a:rPr>
              <a:t>% Tasse effettive pagate</a:t>
            </a:r>
            <a:r>
              <a:rPr lang="en-US" sz="1350" b="0" i="0" u="none" strike="noStrike" cap="none" spc="0">
                <a:solidFill>
                  <a:srgbClr val="CBD5E1"/>
                </a:solidFill>
                <a:latin typeface="Arial"/>
                <a:ea typeface="Arial"/>
                <a:cs typeface="Arial"/>
              </a:rPr>
              <a:t> -&gt; 0.10/0.10*100 = </a:t>
            </a:r>
            <a:r>
              <a:rPr lang="en-US" sz="1350" b="0" i="0" u="none" strike="noStrike" cap="none" spc="0">
                <a:solidFill>
                  <a:schemeClr val="accent4">
                    <a:lumMod val="40000"/>
                    <a:lumOff val="60000"/>
                  </a:schemeClr>
                </a:solidFill>
                <a:latin typeface="Arial"/>
                <a:ea typeface="Arial"/>
                <a:cs typeface="Arial"/>
              </a:rPr>
              <a:t>100%</a:t>
            </a:r>
            <a:endParaRPr lang="en-US" sz="1350" b="0" i="0" u="none" strike="noStrike" cap="none" spc="0">
              <a:solidFill>
                <a:srgbClr val="CBD5E1"/>
              </a:solidFill>
              <a:latin typeface="Times New Roman"/>
              <a:cs typeface="Times New Roman"/>
            </a:endParaRPr>
          </a:p>
          <a:p>
            <a:pPr>
              <a:lnSpc>
                <a:spcPts val="2429"/>
              </a:lnSpc>
              <a:defRPr/>
            </a:pPr>
            <a:r>
              <a:rPr lang="en-US" sz="1350" b="0" i="0" u="none" strike="noStrike" cap="none" spc="0">
                <a:solidFill>
                  <a:schemeClr val="accent4">
                    <a:lumMod val="40000"/>
                    <a:lumOff val="60000"/>
                  </a:schemeClr>
                </a:solidFill>
                <a:latin typeface="Arial"/>
                <a:ea typeface="Arial"/>
                <a:cs typeface="Arial"/>
              </a:rPr>
              <a:t>Guadagno rimanente dopo tassazione</a:t>
            </a:r>
            <a:r>
              <a:rPr lang="en-US" sz="1350" b="0" i="0" u="none" strike="noStrike" cap="none" spc="0">
                <a:solidFill>
                  <a:srgbClr val="CBD5E1"/>
                </a:solidFill>
                <a:latin typeface="Arial"/>
                <a:ea typeface="Arial"/>
                <a:cs typeface="Arial"/>
              </a:rPr>
              <a:t> -&gt; </a:t>
            </a:r>
            <a:r>
              <a:rPr lang="en-US" sz="1350" b="0" i="0" u="none" strike="noStrike" cap="none" spc="0">
                <a:solidFill>
                  <a:schemeClr val="accent4">
                    <a:lumMod val="40000"/>
                    <a:lumOff val="60000"/>
                  </a:schemeClr>
                </a:solidFill>
                <a:latin typeface="Arial"/>
                <a:ea typeface="Arial"/>
                <a:cs typeface="Arial"/>
              </a:rPr>
              <a:t>€0</a:t>
            </a:r>
            <a:endParaRPr lang="en-US" sz="1350" b="0" i="0" u="none" strike="noStrike" cap="none" spc="0">
              <a:solidFill>
                <a:srgbClr val="CBD5E1"/>
              </a:solidFill>
              <a:latin typeface="Times New Roman"/>
              <a:cs typeface="Times New Roman"/>
            </a:endParaRPr>
          </a:p>
          <a:p>
            <a:pPr>
              <a:lnSpc>
                <a:spcPts val="2429"/>
              </a:lnSpc>
              <a:defRPr/>
            </a:pPr>
            <a:endParaRPr lang="en-US" sz="13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Perplexity AI</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
  <cp:revision>11</cp:revision>
  <dcterms:created xsi:type="dcterms:W3CDTF">2026-02-14T19:15:28Z</dcterms:created>
  <dcterms:modified xsi:type="dcterms:W3CDTF">2026-03-19T21:58:32Z</dcterms:modified>
</cp:coreProperties>
</file>