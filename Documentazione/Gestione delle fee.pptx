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notesMasters/notesMaster1.xml" ContentType="application/vnd.openxmlformats-officedocument.presentationml.notesMaster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5143500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71345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2151178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928050446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81749274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9180218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5192663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9116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968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770203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776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516686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3513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1831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47313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69367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38970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859035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695733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74535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9499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673138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3031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578224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5142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AD6D8-0702-6E2E-3D0D-ECA46E8308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931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59862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917426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1059C9-B68D-6DB6-B7FE-CB08C2E82FF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9399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08358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75089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882E1-E894-E389-F985-67E5567FD4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7632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39873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8715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734F4C-EE8A-A610-A33B-AFDE398B09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9496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704674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50137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C529C7-236D-AE1E-D4D9-310E7B332AF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0206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4650310" name="Text 0"/>
          <p:cNvSpPr/>
          <p:nvPr/>
        </p:nvSpPr>
        <p:spPr bwMode="auto">
          <a:xfrm>
            <a:off x="1786485" y="1746945"/>
            <a:ext cx="55709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  <a:defRPr/>
            </a:pPr>
            <a:r>
              <a:rPr lang="en-US" sz="45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GIACENZE CRYPTO</a:t>
            </a:r>
            <a:endParaRPr lang="en-US" sz="4500"/>
          </a:p>
        </p:txBody>
      </p:sp>
      <p:sp>
        <p:nvSpPr>
          <p:cNvPr id="907230385" name="Text 1"/>
          <p:cNvSpPr/>
          <p:nvPr/>
        </p:nvSpPr>
        <p:spPr bwMode="auto">
          <a:xfrm>
            <a:off x="2997179" y="2585145"/>
            <a:ext cx="314954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  <a:defRPr/>
            </a:pPr>
            <a:r>
              <a:rPr lang="en-US" sz="1800">
                <a:solidFill>
                  <a:srgbClr val="CBD5E1"/>
                </a:solidFill>
                <a:latin typeface="Arial"/>
                <a:ea typeface="Arial"/>
                <a:cs typeface="Arial"/>
              </a:rPr>
              <a:t>Gestione delle fee</a:t>
            </a:r>
            <a:endParaRPr lang="en-US" sz="1800"/>
          </a:p>
        </p:txBody>
      </p:sp>
      <p:sp>
        <p:nvSpPr>
          <p:cNvPr id="1330927212" name="Text 2"/>
          <p:cNvSpPr/>
          <p:nvPr/>
        </p:nvSpPr>
        <p:spPr bwMode="auto">
          <a:xfrm>
            <a:off x="3120343" y="3209925"/>
            <a:ext cx="290331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  <a:defRPr/>
            </a:pPr>
            <a:r>
              <a:rPr lang="en-US" sz="1050">
                <a:solidFill>
                  <a:srgbClr val="94A3B8"/>
                </a:solidFill>
                <a:latin typeface="Arial"/>
                <a:ea typeface="Arial"/>
                <a:cs typeface="Arial"/>
              </a:rPr>
              <a:t>Guida alla tassazione delle cripto-attività in Italia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1716095" name="Text 0"/>
          <p:cNvSpPr/>
          <p:nvPr/>
        </p:nvSpPr>
        <p:spPr bwMode="auto"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Normativa Azioni</a:t>
            </a:r>
            <a:endParaRPr lang="en-US" sz="2700"/>
          </a:p>
        </p:txBody>
      </p:sp>
      <p:sp>
        <p:nvSpPr>
          <p:cNvPr id="1649737351" name="Text 1"/>
          <p:cNvSpPr/>
          <p:nvPr/>
        </p:nvSpPr>
        <p:spPr bwMode="auto">
          <a:xfrm>
            <a:off x="609599" y="1157937"/>
            <a:ext cx="7620000" cy="1577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  <a:defRPr/>
            </a:pPr>
            <a:r>
              <a:rPr sz="1200" b="0" i="1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Le plusvalenze indicate nelle lettere c), c-bis) e c-ter) del comma 1 dell'articolo 67 sono costituite dalla differenza tra il corrispettivo percepito ovvero la somma od il valore normale dei beni rimborsati ed il costo od il valore di acquisto assoggettato a tassazione,</a:t>
            </a:r>
            <a:r>
              <a:rPr sz="1200" b="0" i="1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i="1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aumentato di ogni onere inerente alla loro produzione</a:t>
            </a:r>
            <a:r>
              <a:rPr sz="1200" b="0" i="1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i="1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(Art.68, c.6 del TUIR)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Plusvalenza = Prz Vendita - (Costo di carico + fee)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/>
          </a:p>
        </p:txBody>
      </p:sp>
      <p:sp>
        <p:nvSpPr>
          <p:cNvPr id="1363765826" name="Text 0"/>
          <p:cNvSpPr/>
          <p:nvPr/>
        </p:nvSpPr>
        <p:spPr bwMode="auto">
          <a:xfrm flipH="0" flipV="0">
            <a:off x="682750" y="2886839"/>
            <a:ext cx="8096910" cy="411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39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Normativa Crypto</a:t>
            </a:r>
            <a:endParaRPr lang="en-US" sz="2700"/>
          </a:p>
        </p:txBody>
      </p:sp>
      <p:sp>
        <p:nvSpPr>
          <p:cNvPr id="31064542" name="Text 1"/>
          <p:cNvSpPr/>
          <p:nvPr/>
        </p:nvSpPr>
        <p:spPr bwMode="auto">
          <a:xfrm>
            <a:off x="682751" y="3257670"/>
            <a:ext cx="7619999" cy="157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sz="1200" b="0" i="1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Le plusvalenze di cui alla lettera c-sexies) del comma 1 dell’articolo 67 sono costituite dalla differenza tra il corrispettivo percepito ovvero il valore normale delle cripto-attività permutate e il costo o il valore di acquisto. [...] (Art. 68, c.9-bis del TUIR –&gt; Introdotto con legge di bilancio 2023)</a:t>
            </a:r>
            <a:endParaRPr lang="en-US" sz="135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>
                <a:solidFill>
                  <a:schemeClr val="bg1"/>
                </a:solidFill>
                <a:latin typeface="Arial"/>
                <a:ea typeface="Arial"/>
                <a:cs typeface="Arial"/>
              </a:rPr>
              <a:t>Plusvalenza = Prz Vendita - (Costo di carico)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1605662" name="Text 0"/>
          <p:cNvSpPr/>
          <p:nvPr/>
        </p:nvSpPr>
        <p:spPr bwMode="auto">
          <a:xfrm flipH="0" flipV="0">
            <a:off x="609598" y="1718271"/>
            <a:ext cx="7924798" cy="3234728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sx="100000" sy="100000" kx="0" ky="0" algn="bl" rotWithShape="0">
              <a:srgbClr val="000000">
                <a:alpha val="20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70588028" name="Text 1"/>
          <p:cNvSpPr/>
          <p:nvPr/>
        </p:nvSpPr>
        <p:spPr bwMode="auto"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Fee Dedotta (Azioni) VS Fee non Dedotta (Crypto)</a:t>
            </a:r>
            <a:endParaRPr lang="en-US" sz="2700"/>
          </a:p>
        </p:txBody>
      </p:sp>
      <p:sp>
        <p:nvSpPr>
          <p:cNvPr id="991130442" name="Text 2"/>
          <p:cNvSpPr/>
          <p:nvPr/>
        </p:nvSpPr>
        <p:spPr bwMode="auto">
          <a:xfrm>
            <a:off x="609600" y="1249661"/>
            <a:ext cx="8083296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Esempio:</a:t>
            </a:r>
            <a:endParaRPr lang="en-US" sz="1350"/>
          </a:p>
        </p:txBody>
      </p:sp>
      <p:sp>
        <p:nvSpPr>
          <p:cNvPr id="1267758455" name="Text 3"/>
          <p:cNvSpPr/>
          <p:nvPr/>
        </p:nvSpPr>
        <p:spPr bwMode="auto">
          <a:xfrm flipH="0" flipV="0">
            <a:off x="762721" y="1785054"/>
            <a:ext cx="7634111" cy="3330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  <a:defRPr/>
            </a:pPr>
            <a:r>
              <a:rPr lang="en-US" sz="1350">
                <a:solidFill>
                  <a:srgbClr val="F1F5F9"/>
                </a:solidFill>
                <a:latin typeface="Arial"/>
                <a:ea typeface="Arial"/>
                <a:cs typeface="Arial"/>
              </a:rPr>
              <a:t>Scambio 10 EURC per 10 EUR (con 1EUR di fee) -&gt; ricevo 9 EUR</a:t>
            </a:r>
            <a:endParaRPr lang="en-US" sz="1350">
              <a:solidFill>
                <a:srgbClr val="F1F5F9"/>
              </a:solidFill>
              <a:latin typeface="Arial"/>
              <a:ea typeface="Arial"/>
              <a:cs typeface="Arial"/>
            </a:endParaRPr>
          </a:p>
          <a:p>
            <a:pPr marL="0" indent="0">
              <a:lnSpc>
                <a:spcPts val="2159"/>
              </a:lnSpc>
              <a:buNone/>
              <a:defRPr/>
            </a:pPr>
            <a:r>
              <a:rPr lang="en-US" sz="1350">
                <a:solidFill>
                  <a:srgbClr val="F1F5F9"/>
                </a:solidFill>
                <a:latin typeface="Arial"/>
                <a:ea typeface="Arial"/>
                <a:cs typeface="Arial"/>
              </a:rPr>
              <a:t>In questo esempio do per scontato che il costo di carico di 1 EURC è 1 EUR</a:t>
            </a:r>
            <a:endParaRPr lang="en-US" sz="1350">
              <a:solidFill>
                <a:srgbClr val="F1F5F9"/>
              </a:solidFill>
              <a:latin typeface="Arial"/>
              <a:ea typeface="Arial"/>
              <a:cs typeface="Arial"/>
            </a:endParaRPr>
          </a:p>
          <a:p>
            <a:pPr marL="0" indent="0">
              <a:lnSpc>
                <a:spcPts val="2159"/>
              </a:lnSpc>
              <a:buNone/>
              <a:defRPr/>
            </a:pPr>
            <a:endParaRPr lang="en-US" sz="1350">
              <a:solidFill>
                <a:srgbClr val="F1F5F9"/>
              </a:solidFill>
              <a:latin typeface="Arial"/>
              <a:ea typeface="Arial"/>
              <a:cs typeface="Arial"/>
            </a:endParaRPr>
          </a:p>
          <a:p>
            <a:pPr marL="234314" indent="-234314">
              <a:lnSpc>
                <a:spcPts val="2159"/>
              </a:lnSpc>
              <a:buFont typeface="Arial"/>
              <a:buChar char="•"/>
              <a:defRPr/>
            </a:pPr>
            <a:r>
              <a:rPr lang="en-US" sz="1350">
                <a:solidFill>
                  <a:srgbClr val="F1F5F9"/>
                </a:solidFill>
                <a:latin typeface="Arial"/>
                <a:ea typeface="Arial"/>
                <a:cs typeface="Arial"/>
              </a:rPr>
              <a:t>Plusvalenza con fee dedotta (Azionario) = 10 (provento lordo) - 1 (fee) - 10 (costo di carico totale) = </a:t>
            </a:r>
            <a:r>
              <a:rPr lang="en-US" sz="1350" b="1">
                <a:solidFill>
                  <a:srgbClr val="F1F5F9"/>
                </a:solidFill>
                <a:latin typeface="Arial"/>
                <a:ea typeface="Arial"/>
                <a:cs typeface="Arial"/>
              </a:rPr>
              <a:t>-1EUR</a:t>
            </a:r>
            <a:endParaRPr lang="en-US" sz="1350">
              <a:solidFill>
                <a:srgbClr val="F1F5F9"/>
              </a:solidFill>
              <a:latin typeface="Arial"/>
              <a:ea typeface="Arial"/>
              <a:cs typeface="Arial"/>
            </a:endParaRPr>
          </a:p>
          <a:p>
            <a:pPr marL="0" indent="0">
              <a:lnSpc>
                <a:spcPts val="2159"/>
              </a:lnSpc>
              <a:buNone/>
              <a:defRPr/>
            </a:pPr>
            <a:r>
              <a:rPr lang="en-US" sz="1350">
                <a:solidFill>
                  <a:srgbClr val="F1F5F9"/>
                </a:solidFill>
                <a:latin typeface="Arial"/>
                <a:ea typeface="Arial"/>
                <a:cs typeface="Arial"/>
              </a:rPr>
              <a:t>(</a:t>
            </a:r>
            <a:r>
              <a:rPr lang="en-US" sz="1350" i="1">
                <a:solidFill>
                  <a:srgbClr val="F1F5F9"/>
                </a:solidFill>
                <a:latin typeface="Arial"/>
                <a:ea typeface="Arial"/>
                <a:cs typeface="Arial"/>
              </a:rPr>
              <a:t>Questo equivale esattamente a quello che ho guadagnato realmente nella transazione considerando i costi avuti</a:t>
            </a:r>
            <a:r>
              <a:rPr lang="en-US" sz="1350">
                <a:solidFill>
                  <a:srgbClr val="F1F5F9"/>
                </a:solidFill>
                <a:latin typeface="Arial"/>
                <a:ea typeface="Arial"/>
                <a:cs typeface="Arial"/>
              </a:rPr>
              <a:t>)</a:t>
            </a:r>
            <a:endParaRPr lang="en-US" sz="1350">
              <a:solidFill>
                <a:srgbClr val="F1F5F9"/>
              </a:solidFill>
              <a:latin typeface="Arial"/>
              <a:ea typeface="Arial"/>
              <a:cs typeface="Arial"/>
            </a:endParaRPr>
          </a:p>
          <a:p>
            <a:pPr marL="0" indent="0">
              <a:lnSpc>
                <a:spcPts val="2159"/>
              </a:lnSpc>
              <a:buNone/>
              <a:defRPr/>
            </a:pPr>
            <a:endParaRPr lang="en-US" sz="1350">
              <a:solidFill>
                <a:srgbClr val="F1F5F9"/>
              </a:solidFill>
              <a:latin typeface="Arial"/>
              <a:ea typeface="Arial"/>
              <a:cs typeface="Arial"/>
            </a:endParaRPr>
          </a:p>
          <a:p>
            <a:pPr marL="234314" indent="-234314">
              <a:lnSpc>
                <a:spcPts val="2159"/>
              </a:lnSpc>
              <a:buFont typeface="Arial"/>
              <a:buChar char="•"/>
              <a:defRPr/>
            </a:pPr>
            <a:r>
              <a:rPr lang="en-US" sz="1350">
                <a:solidFill>
                  <a:srgbClr val="F1F5F9"/>
                </a:solidFill>
                <a:latin typeface="Arial"/>
                <a:ea typeface="Arial"/>
                <a:cs typeface="Arial"/>
              </a:rPr>
              <a:t>Plusvalenza con fee non dedotta (Crypto) = 10 (Provento lordo) - 10 (costo di carico) = </a:t>
            </a:r>
            <a:r>
              <a:rPr lang="en-US" sz="1350" b="1">
                <a:solidFill>
                  <a:srgbClr val="F1F5F9"/>
                </a:solidFill>
                <a:latin typeface="Arial"/>
                <a:ea typeface="Arial"/>
                <a:cs typeface="Arial"/>
              </a:rPr>
              <a:t>0 EUR</a:t>
            </a:r>
            <a:endParaRPr sz="1350" b="1">
              <a:solidFill>
                <a:srgbClr val="F1F5F9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159"/>
              </a:lnSpc>
              <a:defRPr/>
            </a:pPr>
            <a:r>
              <a:rPr lang="en-US" sz="1350">
                <a:solidFill>
                  <a:srgbClr val="F1F5F9"/>
                </a:solidFill>
                <a:latin typeface="Arial"/>
                <a:ea typeface="Arial"/>
                <a:cs typeface="Arial"/>
              </a:rPr>
              <a:t>(</a:t>
            </a:r>
            <a:r>
              <a:rPr lang="en-US" sz="1350" i="1">
                <a:solidFill>
                  <a:srgbClr val="F1F5F9"/>
                </a:solidFill>
                <a:latin typeface="Arial"/>
                <a:ea typeface="Arial"/>
                <a:cs typeface="Arial"/>
              </a:rPr>
              <a:t>Questo equivale al guadagno avuto senza considerare i costi</a:t>
            </a:r>
            <a:r>
              <a:rPr lang="en-US" sz="1350">
                <a:solidFill>
                  <a:srgbClr val="F1F5F9"/>
                </a:solidFill>
                <a:latin typeface="Arial"/>
                <a:ea typeface="Arial"/>
                <a:cs typeface="Arial"/>
              </a:rPr>
              <a:t>)</a:t>
            </a:r>
            <a:endParaRPr lang="en-US" sz="1350">
              <a:solidFill>
                <a:srgbClr val="F1F5F9"/>
              </a:solidFill>
              <a:latin typeface="Arial"/>
              <a:ea typeface="Arial"/>
              <a:cs typeface="Arial"/>
            </a:endParaRPr>
          </a:p>
          <a:p>
            <a:pPr marL="0" indent="0">
              <a:lnSpc>
                <a:spcPts val="2159"/>
              </a:lnSpc>
              <a:buNone/>
              <a:defRPr/>
            </a:pPr>
            <a:endParaRPr lang="en-US" sz="1350"/>
          </a:p>
          <a:p>
            <a:pPr marL="0" indent="0">
              <a:lnSpc>
                <a:spcPts val="2159"/>
              </a:lnSpc>
              <a:buNone/>
              <a:defRPr/>
            </a:pP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685102" name="Text 1"/>
          <p:cNvSpPr/>
          <p:nvPr/>
        </p:nvSpPr>
        <p:spPr bwMode="auto"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Tipologia di fee</a:t>
            </a:r>
            <a:endParaRPr lang="en-US" sz="2700"/>
          </a:p>
        </p:txBody>
      </p:sp>
      <p:sp>
        <p:nvSpPr>
          <p:cNvPr id="365105443" name="Text 2"/>
          <p:cNvSpPr/>
          <p:nvPr/>
        </p:nvSpPr>
        <p:spPr bwMode="auto">
          <a:xfrm>
            <a:off x="609600" y="1249661"/>
            <a:ext cx="8083296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3 Tipi di fee:</a:t>
            </a:r>
            <a:endParaRPr lang="en-US" sz="1350"/>
          </a:p>
        </p:txBody>
      </p:sp>
      <p:sp>
        <p:nvSpPr>
          <p:cNvPr id="883422635" name="Text 3"/>
          <p:cNvSpPr/>
          <p:nvPr/>
        </p:nvSpPr>
        <p:spPr bwMode="auto">
          <a:xfrm flipH="0" flipV="0">
            <a:off x="529888" y="1642070"/>
            <a:ext cx="8068010" cy="3120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Fee nella moneta di acquisto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	Es. Vendo 9 EURC per 9 EUR con fee 1 EURC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	In questo caso lo scambio è di 9 EURC per 9 EUR e l’exchange si trattiene 1 EURC alla fonte</a:t>
            </a:r>
            <a:endParaRPr lang="en-US" sz="1350"/>
          </a:p>
          <a:p>
            <a:pPr marL="342900" indent="-342900">
              <a:lnSpc>
                <a:spcPts val="2430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Fee nella moneta di destinazione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	Es. Vendo 10 EURC per 10 EUR con fee 1 EURC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	Scambio 10 EURC per 10 EUR poi l’exchange si trattiene 1 EUR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Fee</a:t>
            </a: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 in moneta terza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	Es. Venfo 10 EURC per 10 EUR fee 0.0001 ETH</a:t>
            </a: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9987380" name="Text 0"/>
          <p:cNvSpPr/>
          <p:nvPr/>
        </p:nvSpPr>
        <p:spPr bwMode="auto">
          <a:xfrm>
            <a:off x="609599" y="607362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Attenzione ai gridbot</a:t>
            </a:r>
            <a:endParaRPr lang="en-US" sz="2700"/>
          </a:p>
        </p:txBody>
      </p:sp>
      <p:sp>
        <p:nvSpPr>
          <p:cNvPr id="1993474818" name="Text 1"/>
          <p:cNvSpPr/>
          <p:nvPr/>
        </p:nvSpPr>
        <p:spPr bwMode="auto">
          <a:xfrm flipH="0" flipV="0">
            <a:off x="841248" y="1291994"/>
            <a:ext cx="7619999" cy="3872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Come abbiamo detto la plusvalenza si paga con le fee non dedotte quindi la tassazione reale è più alta di quella nominale perchè il guadagno reale è minore.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I grid bot degli exchange generalmente (ad esempio Binance) danno il guadagno di griglia netto quindi già scorporato dalle fees, ma non è su quello che si pagano le plusvalenze bensì sul guadagno lordo.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Questo significa che mano a mano che diminuisce il profitto di griglia aumenta la percentuale di tassazione reale sul provento mostrato.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3732064" name="Text 0"/>
          <p:cNvSpPr/>
          <p:nvPr/>
        </p:nvSpPr>
        <p:spPr bwMode="auto">
          <a:xfrm>
            <a:off x="609599" y="609599"/>
            <a:ext cx="8083296" cy="411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39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Attenzione ai gridbot</a:t>
            </a:r>
            <a:endParaRPr lang="en-US" sz="2700"/>
          </a:p>
        </p:txBody>
      </p:sp>
      <p:sp>
        <p:nvSpPr>
          <p:cNvPr id="1641045069" name="Text 1"/>
          <p:cNvSpPr/>
          <p:nvPr/>
        </p:nvSpPr>
        <p:spPr bwMode="auto">
          <a:xfrm flipH="0" flipV="0">
            <a:off x="914399" y="1249660"/>
            <a:ext cx="7619999" cy="3872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Questa è una formula che ho ricavato per trovare l’incisione reale della tassazione sul provento netto :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T=Tassazione Attuale (indicare 0,33 per il 33%)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GN=Guadagno netto griglia (indicare 0,005 per</a:t>
            </a: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 lo 0,5%)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Fee=Fee dell’exchange (indicare 0,001 per lo 0,1%)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sz="135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endParaRPr lang="en-US" sz="1350"/>
          </a:p>
        </p:txBody>
      </p:sp>
      <p:pic>
        <p:nvPicPr>
          <p:cNvPr id="12691573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99444" y="3355330"/>
            <a:ext cx="5981699" cy="1104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7631933" name="Text 0"/>
          <p:cNvSpPr/>
          <p:nvPr/>
        </p:nvSpPr>
        <p:spPr bwMode="auto">
          <a:xfrm>
            <a:off x="609599" y="609599"/>
            <a:ext cx="8083296" cy="411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39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Attenzione ai gridbot</a:t>
            </a:r>
            <a:endParaRPr lang="en-US" sz="2700"/>
          </a:p>
        </p:txBody>
      </p:sp>
      <p:sp>
        <p:nvSpPr>
          <p:cNvPr id="1105376215" name="Text 1"/>
          <p:cNvSpPr/>
          <p:nvPr/>
        </p:nvSpPr>
        <p:spPr bwMode="auto">
          <a:xfrm flipH="0" flipV="0">
            <a:off x="914399" y="1249660"/>
            <a:ext cx="7619999" cy="3872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Questa una tabella utile per Binance quindi con fee allo 0,1% e tassazione al 33%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sz="135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endParaRPr lang="en-US" sz="1350"/>
          </a:p>
        </p:txBody>
      </p:sp>
      <p:graphicFrame>
        <p:nvGraphicFramePr>
          <p:cNvPr id="66683373" name=""/>
          <p:cNvGraphicFramePr>
            <a:graphicFrameLocks xmlns:a="http://schemas.openxmlformats.org/drawingml/2006/main"/>
          </p:cNvGraphicFramePr>
          <p:nvPr/>
        </p:nvGraphicFramePr>
        <p:xfrm>
          <a:off x="2046833" y="1755421"/>
          <a:ext cx="2695574" cy="275462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461169"/>
                <a:gridCol w="1719683"/>
              </a:tblGrid>
              <a:tr h="17780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100" b="0" i="0" u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% guadagno netto griglia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100" b="0" i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% Tassazione Reale</a:t>
                      </a:r>
                      <a:endParaRPr/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36,34 %</a:t>
                      </a:r>
                      <a:endParaRPr/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0,9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36,70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37,16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7780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0,7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37,75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0,6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38,54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0,5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39,64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0,4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41,32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0,3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44,04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0,2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49,55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0,1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66,07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0,08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74,32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0,06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88,09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0,04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115,62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0,02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198,20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0582391" name="Text 0"/>
          <p:cNvSpPr/>
          <p:nvPr/>
        </p:nvSpPr>
        <p:spPr bwMode="auto">
          <a:xfrm>
            <a:off x="609599" y="609599"/>
            <a:ext cx="8083296" cy="411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39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Attenzione ai gridbot</a:t>
            </a:r>
            <a:endParaRPr lang="en-US" sz="2700"/>
          </a:p>
        </p:txBody>
      </p:sp>
      <p:sp>
        <p:nvSpPr>
          <p:cNvPr id="845530422" name="Text 1"/>
          <p:cNvSpPr/>
          <p:nvPr/>
        </p:nvSpPr>
        <p:spPr bwMode="auto">
          <a:xfrm flipH="0" flipV="0">
            <a:off x="914399" y="1249660"/>
            <a:ext cx="7619999" cy="3872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La tabella di prima valeva però solo se il movimento era unico, siccome i grid bot per completare una griglia devono completare 2 movimenti la cosa è peggiore, non è matematicamente corretto (cambia poco comunque) ma rende bene l’idea, invece che 0,1 mettiamo a 0,2 le fee di Binance nella formula e questo è il risultato 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sz="135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endParaRPr lang="en-US" sz="1350"/>
          </a:p>
        </p:txBody>
      </p:sp>
      <p:graphicFrame>
        <p:nvGraphicFramePr>
          <p:cNvPr id="482657162" name=""/>
          <p:cNvGraphicFramePr>
            <a:graphicFrameLocks xmlns:a="http://schemas.openxmlformats.org/drawingml/2006/main"/>
          </p:cNvGraphicFramePr>
          <p:nvPr/>
        </p:nvGraphicFramePr>
        <p:xfrm>
          <a:off x="2920166" y="2571750"/>
          <a:ext cx="2324099" cy="201802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143000"/>
                <a:gridCol w="1181099"/>
              </a:tblGrid>
              <a:tr h="17780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100" b="0" i="0" u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% guadagno griglia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100" b="0" i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Tassazione Reale</a:t>
                      </a:r>
                      <a:endParaRPr/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39,67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41,27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0,6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43,59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7780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0,5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46,29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r>
                        <a:rPr lang="en-US" sz="18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0,4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49,60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0,3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55,11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0,2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66,13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0,15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77,15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0,1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99,20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0,02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363,73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908680" name="Text 0"/>
          <p:cNvSpPr/>
          <p:nvPr/>
        </p:nvSpPr>
        <p:spPr bwMode="auto">
          <a:xfrm>
            <a:off x="609599" y="609599"/>
            <a:ext cx="8083296" cy="411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39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Attenzione ai gridbot (Esempio Pratico 1)</a:t>
            </a:r>
            <a:r>
              <a:rPr lang="en-US" sz="2700"/>
              <a:t>  </a:t>
            </a:r>
            <a:endParaRPr lang="en-US" sz="2700"/>
          </a:p>
        </p:txBody>
      </p:sp>
      <p:sp>
        <p:nvSpPr>
          <p:cNvPr id="1647526247" name="Text 1"/>
          <p:cNvSpPr/>
          <p:nvPr/>
        </p:nvSpPr>
        <p:spPr bwMode="auto">
          <a:xfrm flipH="0" flipV="0">
            <a:off x="914399" y="1249660"/>
            <a:ext cx="7619999" cy="3872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Esempio su Binance (1 operazione completa su griglia, guadagno lordo 0,7% che equivale ad un guadagno netto griglia di circa 0,5%)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Compro 100 Euro di BTC quando stanno a 100.000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Con le fee me ne arrivano 0,00999 caricati con costo di carico 99,9 (fee non deducibili)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Vendo BTC quando sta a 100.700 (+0,7%)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valore transazione lordo €100.60 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Pluvalenza = €0,70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Times New Roman"/>
                <a:cs typeface="Times New Roman"/>
              </a:rPr>
              <a:t> (100,60-99,9)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Tasse da pagare = €0,70 * 33% = €0.23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Fee = 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100,60*0,1%</a:t>
            </a: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= €0,1</a:t>
            </a:r>
            <a:endParaRPr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Rimanenze = 100.50</a:t>
            </a: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EUR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(100,60-0,1)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Guadagno effettivo : 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€100.50 (Rimanenze) - €100 (Investimento iniziale) = </a:t>
            </a: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0,50€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Incidenza delle tasse sul guadagno effettivo -&gt; 0.23/0.50*100 = 46%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Guadagno rimanente dopo tassazione -&gt; €0.27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sz="135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5904057" name="Text 0"/>
          <p:cNvSpPr/>
          <p:nvPr/>
        </p:nvSpPr>
        <p:spPr bwMode="auto">
          <a:xfrm>
            <a:off x="609599" y="609599"/>
            <a:ext cx="8083296" cy="411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39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Attenzione ai gridbot (Esempio Pratico 2)</a:t>
            </a:r>
            <a:r>
              <a:rPr lang="en-US" sz="2700"/>
              <a:t>  </a:t>
            </a:r>
            <a:endParaRPr lang="en-US" sz="2700"/>
          </a:p>
        </p:txBody>
      </p:sp>
      <p:sp>
        <p:nvSpPr>
          <p:cNvPr id="1308604997" name="Text 1"/>
          <p:cNvSpPr/>
          <p:nvPr/>
        </p:nvSpPr>
        <p:spPr bwMode="auto">
          <a:xfrm flipH="0" flipV="0">
            <a:off x="914399" y="1249660"/>
            <a:ext cx="7619999" cy="3872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Esempio su Binance (1 operazione completa su griglia, guadagno lordo 0,3% che equivale ad un guadagno netto griglia di circa 0,1%)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Compro 100 Euro di BTC quando stanno a 100.000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Con le fee me ne arrivano 0,00999 caricati con costo di carico €99,9 (fee non deducibili)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Vendo BTC quando sta a 100.300 (+0,3%)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valore transazione lordo €100.2 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Pluvalenza = €0,30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(100,2-99,9)</a:t>
            </a:r>
            <a:endParaRPr sz="1350" b="0" i="0" u="none" strike="noStrike" cap="none" spc="0">
              <a:solidFill>
                <a:srgbClr val="CBD5E1"/>
              </a:solidFill>
              <a:latin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Tasse da pagare =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€0,30 * 33% = </a:t>
            </a: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€0.1</a:t>
            </a:r>
            <a:endParaRPr lang="en-US" sz="1350" b="1" i="0" u="none" strike="noStrike" cap="none" spc="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Fee = 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100,20*0,1%</a:t>
            </a: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= €0,1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Rimanenze = 100.10</a:t>
            </a: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EUR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(100,20-0.1%)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Guadagno effettivo : €100.10 (Rimanenze) - €100 (Investimento iniziale) = 0,10€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Incidenza delle tasse sul guadagno effettivo -&gt; 0.10/0.10*100 = 100%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Guadagno rimanente dopo tassazione -&gt; €0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sz="135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ONLYOFFICE/9.2.1.43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Perplexity AI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/>
  <cp:revision>5</cp:revision>
  <dcterms:created xsi:type="dcterms:W3CDTF">2026-02-14T19:15:28Z</dcterms:created>
  <dcterms:modified xsi:type="dcterms:W3CDTF">2026-02-24T00:36:58Z</dcterms:modified>
</cp:coreProperties>
</file>