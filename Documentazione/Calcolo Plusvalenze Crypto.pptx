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47892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1148715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41843090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6482218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1479417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6330473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7854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5717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711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223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4064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2356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355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3006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6383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239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1506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6641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5233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54437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5676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4628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85572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5921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1781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2752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8687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1111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6140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4739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5597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27597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39067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3543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6362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4553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77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81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1150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9139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26431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8427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2771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4302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9233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987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14746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7736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8502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9943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8858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58581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0107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755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206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7710162" name="Text 0"/>
          <p:cNvSpPr/>
          <p:nvPr/>
        </p:nvSpPr>
        <p:spPr bwMode="auto">
          <a:xfrm>
            <a:off x="1786485" y="1746945"/>
            <a:ext cx="5570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  <a:defRPr/>
            </a:pPr>
            <a:r>
              <a:rPr lang="en-US" sz="45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GIACENZE CRYPTO</a:t>
            </a:r>
            <a:endParaRPr lang="en-US" sz="4500"/>
          </a:p>
        </p:txBody>
      </p:sp>
      <p:sp>
        <p:nvSpPr>
          <p:cNvPr id="111384375" name="Text 1"/>
          <p:cNvSpPr/>
          <p:nvPr/>
        </p:nvSpPr>
        <p:spPr bwMode="auto">
          <a:xfrm>
            <a:off x="2997179" y="2585145"/>
            <a:ext cx="314954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  <a:defRPr/>
            </a:pPr>
            <a:r>
              <a:rPr lang="en-US" sz="1800">
                <a:solidFill>
                  <a:srgbClr val="CBD5E1"/>
                </a:solidFill>
                <a:latin typeface="Arial"/>
                <a:ea typeface="Arial"/>
                <a:cs typeface="Arial"/>
              </a:rPr>
              <a:t>Calcolo Plusvalenze e Opzioni</a:t>
            </a:r>
            <a:endParaRPr lang="en-US" sz="1800"/>
          </a:p>
        </p:txBody>
      </p:sp>
      <p:sp>
        <p:nvSpPr>
          <p:cNvPr id="1625114290" name="Text 2"/>
          <p:cNvSpPr/>
          <p:nvPr/>
        </p:nvSpPr>
        <p:spPr bwMode="auto">
          <a:xfrm>
            <a:off x="3120343" y="3209925"/>
            <a:ext cx="290331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  <a:defRPr/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  <a:cs typeface="Arial"/>
              </a:rPr>
              <a:t>Guida alla tassazione delle cripto-attività in Italia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960797" name="Text 0"/>
          <p:cNvSpPr/>
          <p:nvPr/>
        </p:nvSpPr>
        <p:spPr bwMode="auto"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Normativa di Riferimento</a:t>
            </a:r>
            <a:endParaRPr lang="en-US" sz="2700"/>
          </a:p>
        </p:txBody>
      </p:sp>
      <p:sp>
        <p:nvSpPr>
          <p:cNvPr id="353484057" name="Text 1"/>
          <p:cNvSpPr/>
          <p:nvPr/>
        </p:nvSpPr>
        <p:spPr bwMode="auto">
          <a:xfrm>
            <a:off x="914400" y="1249660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TUIR (art. 67 e 68) - Redditi diversi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Legge di Bilancio 2023 - Quadro normativo chiaro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Circolare 30/E AdE (27/10/2023)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Legge di Bilancio 2025 - Abolizione soglia €2.000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539908" name="Text 0"/>
          <p:cNvSpPr/>
          <p:nvPr/>
        </p:nvSpPr>
        <p:spPr bwMode="auto">
          <a:xfrm>
            <a:off x="609600" y="1718271"/>
            <a:ext cx="7924800" cy="115808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625483712" name="Text 1"/>
          <p:cNvSpPr/>
          <p:nvPr/>
        </p:nvSpPr>
        <p:spPr bwMode="auto"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Cosa sono le Cripto-Attività?</a:t>
            </a:r>
            <a:endParaRPr lang="en-US" sz="2700"/>
          </a:p>
        </p:txBody>
      </p:sp>
      <p:sp>
        <p:nvSpPr>
          <p:cNvPr id="1105844048" name="Text 2"/>
          <p:cNvSpPr/>
          <p:nvPr/>
        </p:nvSpPr>
        <p:spPr bwMode="auto">
          <a:xfrm>
            <a:off x="609600" y="12496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Secondo la Legge di Bilancio 2023:</a:t>
            </a:r>
            <a:endParaRPr lang="en-US" sz="1350"/>
          </a:p>
        </p:txBody>
      </p:sp>
      <p:sp>
        <p:nvSpPr>
          <p:cNvPr id="700462211" name="Text 3"/>
          <p:cNvSpPr/>
          <p:nvPr/>
        </p:nvSpPr>
        <p:spPr bwMode="auto">
          <a:xfrm>
            <a:off x="914400" y="2023071"/>
            <a:ext cx="7315200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  <a:defRPr/>
            </a:pPr>
            <a:r>
              <a:rPr lang="en-US" sz="1350">
                <a:solidFill>
                  <a:srgbClr val="F1F5F9"/>
                </a:solidFill>
                <a:latin typeface="Arial"/>
                <a:ea typeface="Arial"/>
                <a:cs typeface="Arial"/>
              </a:rPr>
              <a:t>"Rappresentazione digitale di valore o di diritti che possono essere trasferiti e memorizzati elettronicamente, utilizzando la tecnologia di registro distribuito o una tecnologia analoga"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711276" name="Text 0"/>
          <p:cNvSpPr/>
          <p:nvPr/>
        </p:nvSpPr>
        <p:spPr bwMode="auto">
          <a:xfrm>
            <a:off x="609600" y="2678311"/>
            <a:ext cx="7924800" cy="72390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522394741" name="Text 1"/>
          <p:cNvSpPr/>
          <p:nvPr/>
        </p:nvSpPr>
        <p:spPr bwMode="auto"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Cos'è la Plusvalenza?</a:t>
            </a:r>
            <a:endParaRPr lang="en-US" sz="2700"/>
          </a:p>
        </p:txBody>
      </p:sp>
      <p:sp>
        <p:nvSpPr>
          <p:cNvPr id="1415697379" name="Text 2"/>
          <p:cNvSpPr/>
          <p:nvPr/>
        </p:nvSpPr>
        <p:spPr bwMode="auto">
          <a:xfrm>
            <a:off x="609600" y="12496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Differenza positiva tra:</a:t>
            </a:r>
            <a:endParaRPr lang="en-US" sz="1350"/>
          </a:p>
        </p:txBody>
      </p:sp>
      <p:sp>
        <p:nvSpPr>
          <p:cNvPr id="747153944" name="Text 3"/>
          <p:cNvSpPr/>
          <p:nvPr/>
        </p:nvSpPr>
        <p:spPr bwMode="auto">
          <a:xfrm>
            <a:off x="914400" y="1642071"/>
            <a:ext cx="7620000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Prezzo di vendita delle cripto-attività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Prezzo di acquisto o valore di carico</a:t>
            </a:r>
            <a:endParaRPr lang="en-US" sz="1350"/>
          </a:p>
        </p:txBody>
      </p:sp>
      <p:sp>
        <p:nvSpPr>
          <p:cNvPr id="1076636735" name="Text 4"/>
          <p:cNvSpPr/>
          <p:nvPr/>
        </p:nvSpPr>
        <p:spPr bwMode="auto">
          <a:xfrm>
            <a:off x="763524" y="2906911"/>
            <a:ext cx="76169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Plusvalenza = Prezzo vendita - Prezzo acquisto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339795" name="Text 0"/>
          <p:cNvSpPr/>
          <p:nvPr/>
        </p:nvSpPr>
        <p:spPr bwMode="auto"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Operazioni Fiscalmente Rilevanti (1/2)</a:t>
            </a:r>
            <a:endParaRPr lang="en-US" sz="2700"/>
          </a:p>
        </p:txBody>
      </p:sp>
      <p:sp>
        <p:nvSpPr>
          <p:cNvPr id="1628088610" name="Text 1"/>
          <p:cNvSpPr/>
          <p:nvPr/>
        </p:nvSpPr>
        <p:spPr bwMode="auto">
          <a:xfrm>
            <a:off x="914400" y="1249661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Conversione cripto → valuta fiat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Scambio tra cripto con caratteristiche diverse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Acquisto beni/servizi con cripto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Proventi da detenzione (staking, earn)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047002" name="Text 0"/>
          <p:cNvSpPr/>
          <p:nvPr/>
        </p:nvSpPr>
        <p:spPr bwMode="auto">
          <a:xfrm>
            <a:off x="609600" y="1642072"/>
            <a:ext cx="7924800" cy="114290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552857267" name="Text 1"/>
          <p:cNvSpPr/>
          <p:nvPr/>
        </p:nvSpPr>
        <p:spPr bwMode="auto">
          <a:xfrm>
            <a:off x="609600" y="3013572"/>
            <a:ext cx="7924800" cy="114290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095005081" name="Text 2"/>
          <p:cNvSpPr/>
          <p:nvPr/>
        </p:nvSpPr>
        <p:spPr bwMode="auto">
          <a:xfrm>
            <a:off x="609600" y="4385072"/>
            <a:ext cx="7924800" cy="114290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299614486" name="Text 3"/>
          <p:cNvSpPr/>
          <p:nvPr/>
        </p:nvSpPr>
        <p:spPr bwMode="auto"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Categorie di Cripto-Attività</a:t>
            </a:r>
            <a:endParaRPr lang="en-US" sz="2700"/>
          </a:p>
        </p:txBody>
      </p:sp>
      <p:sp>
        <p:nvSpPr>
          <p:cNvPr id="953927399" name="Text 4"/>
          <p:cNvSpPr/>
          <p:nvPr/>
        </p:nvSpPr>
        <p:spPr bwMode="auto">
          <a:xfrm>
            <a:off x="609600" y="12496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Tre categorie secondo Circolare 30/E:</a:t>
            </a:r>
            <a:endParaRPr lang="en-US" sz="1350"/>
          </a:p>
        </p:txBody>
      </p:sp>
      <p:sp>
        <p:nvSpPr>
          <p:cNvPr id="1451231160" name="Text 5"/>
          <p:cNvSpPr/>
          <p:nvPr/>
        </p:nvSpPr>
        <p:spPr bwMode="auto">
          <a:xfrm>
            <a:off x="838200" y="1870672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  <a:defRPr/>
            </a:pPr>
            <a:r>
              <a:rPr lang="en-US" sz="21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E-Money Token</a:t>
            </a:r>
            <a:endParaRPr lang="en-US" sz="2100"/>
          </a:p>
        </p:txBody>
      </p:sp>
      <p:sp>
        <p:nvSpPr>
          <p:cNvPr id="1012971043" name="Text 6"/>
          <p:cNvSpPr/>
          <p:nvPr/>
        </p:nvSpPr>
        <p:spPr bwMode="auto">
          <a:xfrm>
            <a:off x="838200" y="2343052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Stablecoin MiCA compliant</a:t>
            </a:r>
            <a:endParaRPr lang="en-US" sz="1200"/>
          </a:p>
        </p:txBody>
      </p:sp>
      <p:sp>
        <p:nvSpPr>
          <p:cNvPr id="510706363" name="Text 7"/>
          <p:cNvSpPr/>
          <p:nvPr/>
        </p:nvSpPr>
        <p:spPr bwMode="auto">
          <a:xfrm>
            <a:off x="838200" y="3242172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  <a:defRPr/>
            </a:pPr>
            <a:r>
              <a:rPr lang="en-US" sz="21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NFT</a:t>
            </a:r>
            <a:endParaRPr lang="en-US" sz="2100"/>
          </a:p>
        </p:txBody>
      </p:sp>
      <p:sp>
        <p:nvSpPr>
          <p:cNvPr id="757194838" name="Text 8"/>
          <p:cNvSpPr/>
          <p:nvPr/>
        </p:nvSpPr>
        <p:spPr bwMode="auto">
          <a:xfrm>
            <a:off x="838200" y="3714552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Token non fungibili</a:t>
            </a:r>
            <a:endParaRPr lang="en-US" sz="1200"/>
          </a:p>
        </p:txBody>
      </p:sp>
      <p:sp>
        <p:nvSpPr>
          <p:cNvPr id="1321550232" name="Text 9"/>
          <p:cNvSpPr/>
          <p:nvPr/>
        </p:nvSpPr>
        <p:spPr bwMode="auto">
          <a:xfrm>
            <a:off x="838200" y="4613672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  <a:defRPr/>
            </a:pPr>
            <a:r>
              <a:rPr lang="en-US" sz="21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Crypto Generiche</a:t>
            </a:r>
            <a:endParaRPr lang="en-US" sz="2100"/>
          </a:p>
        </p:txBody>
      </p:sp>
      <p:sp>
        <p:nvSpPr>
          <p:cNvPr id="888241295" name="Text 10"/>
          <p:cNvSpPr/>
          <p:nvPr/>
        </p:nvSpPr>
        <p:spPr bwMode="auto">
          <a:xfrm>
            <a:off x="838200" y="5086052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BTC, ETH, altcoin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652167" name="Text 0"/>
          <p:cNvSpPr/>
          <p:nvPr/>
        </p:nvSpPr>
        <p:spPr bwMode="auto"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Scambi Fiscalmente Rilevanti</a:t>
            </a:r>
            <a:endParaRPr lang="en-US" sz="2700"/>
          </a:p>
        </p:txBody>
      </p:sp>
      <p:sp>
        <p:nvSpPr>
          <p:cNvPr id="649699691" name="Text 1"/>
          <p:cNvSpPr/>
          <p:nvPr/>
        </p:nvSpPr>
        <p:spPr bwMode="auto">
          <a:xfrm>
            <a:off x="609600" y="12496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Scambi tra categorie diverse:</a:t>
            </a:r>
            <a:endParaRPr lang="en-US" sz="1350"/>
          </a:p>
        </p:txBody>
      </p:sp>
      <p:sp>
        <p:nvSpPr>
          <p:cNvPr id="1869340246" name="Text 2"/>
          <p:cNvSpPr/>
          <p:nvPr/>
        </p:nvSpPr>
        <p:spPr bwMode="auto">
          <a:xfrm>
            <a:off x="914400" y="1642072"/>
            <a:ext cx="76200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E-Money ↔ NFT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E-Money ↔ Crypto generiche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NFT ↔ Crypto generiche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836096" name="Text 0"/>
          <p:cNvSpPr/>
          <p:nvPr/>
        </p:nvSpPr>
        <p:spPr bwMode="auto"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Scambi NON Rilevanti</a:t>
            </a:r>
            <a:endParaRPr lang="en-US" sz="2700"/>
          </a:p>
        </p:txBody>
      </p:sp>
      <p:sp>
        <p:nvSpPr>
          <p:cNvPr id="261372439" name="Text 1"/>
          <p:cNvSpPr/>
          <p:nvPr/>
        </p:nvSpPr>
        <p:spPr bwMode="auto">
          <a:xfrm>
            <a:off x="609600" y="12496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Scambi tra cripto della stessa categoria:</a:t>
            </a:r>
            <a:endParaRPr lang="en-US" sz="1350"/>
          </a:p>
        </p:txBody>
      </p:sp>
      <p:sp>
        <p:nvSpPr>
          <p:cNvPr id="1796967821" name="Text 2"/>
          <p:cNvSpPr/>
          <p:nvPr/>
        </p:nvSpPr>
        <p:spPr bwMode="auto">
          <a:xfrm>
            <a:off x="914400" y="1642072"/>
            <a:ext cx="76200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NFT ↔ NFT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E-Money ↔ E-Money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Crypto generiche ↔ Crypto generiche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145141" name="Text 0"/>
          <p:cNvSpPr/>
          <p:nvPr/>
        </p:nvSpPr>
        <p:spPr bwMode="auto">
          <a:xfrm>
            <a:off x="609600" y="1718272"/>
            <a:ext cx="7924800" cy="2525713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223957362" name="Text 1"/>
          <p:cNvSpPr/>
          <p:nvPr/>
        </p:nvSpPr>
        <p:spPr bwMode="auto"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Metodo di Valutazione: LiFo</a:t>
            </a:r>
            <a:endParaRPr lang="en-US" sz="2700"/>
          </a:p>
        </p:txBody>
      </p:sp>
      <p:sp>
        <p:nvSpPr>
          <p:cNvPr id="2019032663" name="Text 2"/>
          <p:cNvSpPr/>
          <p:nvPr/>
        </p:nvSpPr>
        <p:spPr bwMode="auto">
          <a:xfrm>
            <a:off x="609600" y="1249663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Last In, First Out - L'ultima cripto acquistata è la prima venduta</a:t>
            </a:r>
            <a:endParaRPr lang="en-US" sz="1350"/>
          </a:p>
        </p:txBody>
      </p:sp>
      <p:sp>
        <p:nvSpPr>
          <p:cNvPr id="828500542" name="Text 3"/>
          <p:cNvSpPr/>
          <p:nvPr/>
        </p:nvSpPr>
        <p:spPr bwMode="auto">
          <a:xfrm>
            <a:off x="914400" y="2023072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  <a:defRPr/>
            </a:pPr>
            <a:r>
              <a:rPr lang="en-US" sz="21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Esempio</a:t>
            </a:r>
            <a:endParaRPr lang="en-US" sz="2100"/>
          </a:p>
        </p:txBody>
      </p:sp>
      <p:sp>
        <p:nvSpPr>
          <p:cNvPr id="1204516342" name="Text 4"/>
          <p:cNvSpPr/>
          <p:nvPr/>
        </p:nvSpPr>
        <p:spPr bwMode="auto">
          <a:xfrm>
            <a:off x="1219200" y="2495452"/>
            <a:ext cx="7010399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  <a:defRPr/>
            </a:pP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01/01: Acquisto 1 BTC a €20.000</a:t>
            </a:r>
            <a:endParaRPr lang="en-US" sz="1200"/>
          </a:p>
          <a:p>
            <a:pPr marL="342900" indent="-342900">
              <a:lnSpc>
                <a:spcPts val="2160"/>
              </a:lnSpc>
              <a:buSzPct val="100000"/>
              <a:buChar char="•"/>
              <a:defRPr/>
            </a:pP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01/03: Acquisto 1 BTC a €25.000</a:t>
            </a:r>
            <a:endParaRPr lang="en-US" sz="1200"/>
          </a:p>
          <a:p>
            <a:pPr marL="342900" indent="-342900">
              <a:lnSpc>
                <a:spcPts val="2160"/>
              </a:lnSpc>
              <a:buSzPct val="100000"/>
              <a:buChar char="•"/>
              <a:defRPr/>
            </a:pP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01/05: Vendita 1 BTC a €30.000</a:t>
            </a:r>
            <a:endParaRPr lang="en-US" sz="1200"/>
          </a:p>
        </p:txBody>
      </p:sp>
      <p:sp>
        <p:nvSpPr>
          <p:cNvPr id="1552177722" name="Text 5"/>
          <p:cNvSpPr/>
          <p:nvPr/>
        </p:nvSpPr>
        <p:spPr bwMode="auto">
          <a:xfrm>
            <a:off x="914400" y="3699174"/>
            <a:ext cx="7461504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  <a:defRPr/>
            </a:pPr>
            <a:r>
              <a:rPr lang="en-US" sz="1350">
                <a:solidFill>
                  <a:srgbClr val="38BDF8"/>
                </a:solidFill>
                <a:latin typeface="Arial"/>
                <a:ea typeface="Arial"/>
                <a:cs typeface="Arial"/>
              </a:rPr>
              <a:t>Plusvalenza = €30.000 - €25.000 = €5.000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868821" name="Text 0"/>
          <p:cNvSpPr/>
          <p:nvPr/>
        </p:nvSpPr>
        <p:spPr bwMode="auto">
          <a:xfrm>
            <a:off x="609600" y="1249663"/>
            <a:ext cx="7924800" cy="15277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896674190" name="Text 1"/>
          <p:cNvSpPr/>
          <p:nvPr/>
        </p:nvSpPr>
        <p:spPr bwMode="auto">
          <a:xfrm>
            <a:off x="609600" y="3006030"/>
            <a:ext cx="7924800" cy="15278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082131048" name="Text 2"/>
          <p:cNvSpPr/>
          <p:nvPr/>
        </p:nvSpPr>
        <p:spPr bwMode="auto"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Modalità di Calcolo</a:t>
            </a:r>
            <a:endParaRPr lang="en-US" sz="2700"/>
          </a:p>
        </p:txBody>
      </p:sp>
      <p:sp>
        <p:nvSpPr>
          <p:cNvPr id="1163746296" name="Text 3"/>
          <p:cNvSpPr/>
          <p:nvPr/>
        </p:nvSpPr>
        <p:spPr bwMode="auto">
          <a:xfrm>
            <a:off x="914400" y="1554463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  <a:defRPr/>
            </a:pPr>
            <a:r>
              <a:rPr lang="en-US" sz="21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Calcolo Globale</a:t>
            </a:r>
            <a:endParaRPr lang="en-US" sz="2100"/>
          </a:p>
        </p:txBody>
      </p:sp>
      <p:sp>
        <p:nvSpPr>
          <p:cNvPr id="197847302" name="Text 4"/>
          <p:cNvSpPr/>
          <p:nvPr/>
        </p:nvSpPr>
        <p:spPr bwMode="auto">
          <a:xfrm>
            <a:off x="914400" y="2026844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Tutti i wallet considerati come unica entità</a:t>
            </a:r>
            <a:endParaRPr lang="en-US" sz="1200"/>
          </a:p>
        </p:txBody>
      </p:sp>
      <p:sp>
        <p:nvSpPr>
          <p:cNvPr id="495600690" name="Text 5"/>
          <p:cNvSpPr/>
          <p:nvPr/>
        </p:nvSpPr>
        <p:spPr bwMode="auto">
          <a:xfrm>
            <a:off x="914400" y="3310830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  <a:defRPr/>
            </a:pPr>
            <a:r>
              <a:rPr lang="en-US" sz="21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Per Gruppo Wallet</a:t>
            </a:r>
            <a:endParaRPr lang="en-US" sz="2100"/>
          </a:p>
        </p:txBody>
      </p:sp>
      <p:sp>
        <p:nvSpPr>
          <p:cNvPr id="1100347480" name="Text 6"/>
          <p:cNvSpPr/>
          <p:nvPr/>
        </p:nvSpPr>
        <p:spPr bwMode="auto">
          <a:xfrm>
            <a:off x="914400" y="3783211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LiFo applicato separatamente per ogni gruppo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5663733" name="Text 0"/>
          <p:cNvSpPr/>
          <p:nvPr/>
        </p:nvSpPr>
        <p:spPr bwMode="auto"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Proventi da Detenzione</a:t>
            </a:r>
            <a:endParaRPr lang="en-US" sz="2700"/>
          </a:p>
        </p:txBody>
      </p:sp>
      <p:sp>
        <p:nvSpPr>
          <p:cNvPr id="1890127109" name="Text 1"/>
          <p:cNvSpPr/>
          <p:nvPr/>
        </p:nvSpPr>
        <p:spPr bwMode="auto">
          <a:xfrm>
            <a:off x="609600" y="1249663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Reddito passivo tassato alla percezione:</a:t>
            </a:r>
            <a:endParaRPr lang="en-US" sz="1350"/>
          </a:p>
        </p:txBody>
      </p:sp>
      <p:sp>
        <p:nvSpPr>
          <p:cNvPr id="82730932" name="Text 2"/>
          <p:cNvSpPr/>
          <p:nvPr/>
        </p:nvSpPr>
        <p:spPr bwMode="auto">
          <a:xfrm>
            <a:off x="914400" y="1642072"/>
            <a:ext cx="76200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Staking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Earn programs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Interessi su prestiti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262396" name="Text 0"/>
          <p:cNvSpPr/>
          <p:nvPr/>
        </p:nvSpPr>
        <p:spPr bwMode="auto"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Situazione ante Legge 2023</a:t>
            </a:r>
            <a:endParaRPr lang="en-US" sz="2700"/>
          </a:p>
        </p:txBody>
      </p:sp>
      <p:sp>
        <p:nvSpPr>
          <p:cNvPr id="939088194" name="Text 1"/>
          <p:cNvSpPr/>
          <p:nvPr/>
        </p:nvSpPr>
        <p:spPr bwMode="auto">
          <a:xfrm>
            <a:off x="609600" y="1249663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Fino al 31/12/2022:</a:t>
            </a:r>
            <a:endParaRPr lang="en-US" sz="1350"/>
          </a:p>
        </p:txBody>
      </p:sp>
      <p:sp>
        <p:nvSpPr>
          <p:cNvPr id="1297296176" name="Text 2"/>
          <p:cNvSpPr/>
          <p:nvPr/>
        </p:nvSpPr>
        <p:spPr bwMode="auto">
          <a:xfrm>
            <a:off x="914400" y="1642072"/>
            <a:ext cx="76200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Cripto equiparate a valute estere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Soglia €51.645,69 per 7 giorni consecutivi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Sotto soglia: plusvalenze non tassabili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0145394" name="Text 0"/>
          <p:cNvSpPr/>
          <p:nvPr/>
        </p:nvSpPr>
        <p:spPr bwMode="auto"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Analisi Plusvalenze</a:t>
            </a:r>
            <a:endParaRPr lang="en-US" sz="2700"/>
          </a:p>
        </p:txBody>
      </p:sp>
      <p:sp>
        <p:nvSpPr>
          <p:cNvPr id="2002320912" name="Text 1"/>
          <p:cNvSpPr/>
          <p:nvPr/>
        </p:nvSpPr>
        <p:spPr bwMode="auto">
          <a:xfrm>
            <a:off x="609600" y="1249663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La funzione RT &amp; Analisi P&amp;L permette di visualizzare:</a:t>
            </a:r>
            <a:endParaRPr lang="en-US" sz="1350"/>
          </a:p>
        </p:txBody>
      </p:sp>
      <p:sp>
        <p:nvSpPr>
          <p:cNvPr id="1092059950" name="Text 2"/>
          <p:cNvSpPr/>
          <p:nvPr/>
        </p:nvSpPr>
        <p:spPr bwMode="auto">
          <a:xfrm>
            <a:off x="914400" y="1642072"/>
            <a:ext cx="76200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Plusvalenze realizzate per anno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Plusvalenze latenti (non ancora vendute)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Composizione stack LiFo token per token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0266963" name="Text 0"/>
          <p:cNvSpPr/>
          <p:nvPr/>
        </p:nvSpPr>
        <p:spPr bwMode="auto">
          <a:xfrm>
            <a:off x="609600" y="1249663"/>
            <a:ext cx="7924800" cy="15277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2101303542" name="Text 1"/>
          <p:cNvSpPr/>
          <p:nvPr/>
        </p:nvSpPr>
        <p:spPr bwMode="auto">
          <a:xfrm>
            <a:off x="609600" y="3006030"/>
            <a:ext cx="7924800" cy="15278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876810262" name="Text 2"/>
          <p:cNvSpPr/>
          <p:nvPr/>
        </p:nvSpPr>
        <p:spPr bwMode="auto"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Plusvalenza Latente vs Realizzata</a:t>
            </a:r>
            <a:endParaRPr lang="en-US" sz="2700"/>
          </a:p>
        </p:txBody>
      </p:sp>
      <p:sp>
        <p:nvSpPr>
          <p:cNvPr id="1786726013" name="Text 3"/>
          <p:cNvSpPr/>
          <p:nvPr/>
        </p:nvSpPr>
        <p:spPr bwMode="auto">
          <a:xfrm>
            <a:off x="914400" y="1554463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  <a:defRPr/>
            </a:pPr>
            <a:r>
              <a:rPr lang="en-US" sz="21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Latente</a:t>
            </a:r>
            <a:endParaRPr lang="en-US" sz="2100"/>
          </a:p>
        </p:txBody>
      </p:sp>
      <p:sp>
        <p:nvSpPr>
          <p:cNvPr id="717559967" name="Text 4"/>
          <p:cNvSpPr/>
          <p:nvPr/>
        </p:nvSpPr>
        <p:spPr bwMode="auto">
          <a:xfrm>
            <a:off x="914400" y="2026844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Guadagno potenziale su asset ancora posseduti (non tassabile)</a:t>
            </a:r>
            <a:endParaRPr lang="en-US" sz="1200"/>
          </a:p>
        </p:txBody>
      </p:sp>
      <p:sp>
        <p:nvSpPr>
          <p:cNvPr id="920586301" name="Text 5"/>
          <p:cNvSpPr/>
          <p:nvPr/>
        </p:nvSpPr>
        <p:spPr bwMode="auto">
          <a:xfrm>
            <a:off x="914400" y="3310830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  <a:defRPr/>
            </a:pPr>
            <a:r>
              <a:rPr lang="en-US" sz="21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Realizzata</a:t>
            </a:r>
            <a:endParaRPr lang="en-US" sz="2100"/>
          </a:p>
        </p:txBody>
      </p:sp>
      <p:sp>
        <p:nvSpPr>
          <p:cNvPr id="1516762205" name="Text 6"/>
          <p:cNvSpPr/>
          <p:nvPr/>
        </p:nvSpPr>
        <p:spPr bwMode="auto">
          <a:xfrm>
            <a:off x="914400" y="3783211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  <a:defRPr/>
            </a:pPr>
            <a:r>
              <a:rPr lang="en-US"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Guadagno effettivo da vendita o evento fiscalmente rilevante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757620" name="Text 0"/>
          <p:cNvSpPr/>
          <p:nvPr/>
        </p:nvSpPr>
        <p:spPr bwMode="auto"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Opzioni Personalizzabili</a:t>
            </a:r>
            <a:endParaRPr lang="en-US" sz="2700"/>
          </a:p>
        </p:txBody>
      </p:sp>
      <p:sp>
        <p:nvSpPr>
          <p:cNvPr id="61558176" name="Text 1"/>
          <p:cNvSpPr/>
          <p:nvPr/>
        </p:nvSpPr>
        <p:spPr bwMode="auto">
          <a:xfrm>
            <a:off x="914400" y="124966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Definizione E-Money Token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Gestione Rewards (airdrop, cashback)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Calcolo globale o per gruppo wallet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Regole ante Legge 2023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540433" name="Text 0"/>
          <p:cNvSpPr/>
          <p:nvPr/>
        </p:nvSpPr>
        <p:spPr bwMode="auto"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  <a:defRPr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Note Importanti</a:t>
            </a:r>
            <a:endParaRPr lang="en-US" sz="2700"/>
          </a:p>
        </p:txBody>
      </p:sp>
      <p:sp>
        <p:nvSpPr>
          <p:cNvPr id="85294878" name="Text 1"/>
          <p:cNvSpPr/>
          <p:nvPr/>
        </p:nvSpPr>
        <p:spPr bwMode="auto">
          <a:xfrm>
            <a:off x="914400" y="124966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Caricare tutti i movimenti dal primo acquisto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Verificare giacenze con screenshot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Non gestiti: derivati (es. futures), prestiti, token rivalutati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  <a:cs typeface="Arial"/>
              </a:rPr>
              <a:t>Consigliato: consulenza fiscale professionale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Perplexity AI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/>
  <cp:revision>2</cp:revision>
  <dcterms:created xsi:type="dcterms:W3CDTF">2026-02-14T19:15:28Z</dcterms:created>
  <dcterms:modified xsi:type="dcterms:W3CDTF">2026-02-14T21:21:15Z</dcterms:modified>
</cp:coreProperties>
</file>